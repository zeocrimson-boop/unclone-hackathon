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00:00–00:25 | 25 seconds</a:t>
            </a:r>
          </a:p>
          <a:p/>
          <a:p>
            <a:r>
              <a:t>Hello everyone. Our project is EchoGuard: hear the voice, uncover the risk. A convincing voice or professional-looking message can make a suspicious request feel trustworthy. EchoGuard helps users pause and investigate through voice analysis, text scam checks, and community phone-number reports. It supports a careful decision rather than promising that something is completely safe.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00:25–01:10 | 45 seconds</a:t>
            </a:r>
          </a:p>
          <a:p/>
          <a:p>
            <a:r>
              <a:t>EchoGuard has three main capabilities. Voice analysis looks for signs of synthetic speech using DetectifAI when the account is configured. The text scam finder checks the content of messages, including fake internship offers, OTP requests, investment promises and urgent payments. Community reporting adds another source of context from submitted experiences. These results answer different questions, so the current application keeps them separate and avoids numerical scam probabilities.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01:10–02:10 | 60 seconds</a:t>
            </a:r>
          </a:p>
          <a:p/>
          <a:p>
            <a:r>
              <a:t>Voice detection and scam detection are different. For audio, our server sends the recording to the official DetectifAI deepfake endpoint. The provider examines audio patterns and returns a voice-authenticity verdict. We verified its API documentation, but a real account test still needs credentials. We do not claim that a fake voice proves fraud. For text, our local rule-based engine checks contextual warning signs and shows the actual evidence. For example, asking someone to send an OTP is suspicious, while warning them never to share it is protective advice. The engine is explainable, but unfamiliar wording can still be missed.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02:10–03:10 | 60 seconds</a:t>
            </a:r>
          </a:p>
          <a:p/>
          <a:p>
            <a:r>
              <a:t>The community help center lets people help one another by sharing suspicious-call experiences. A user can search a number, submit a category-based report, or flag a misleading result for review. Search displays actual stored counts and categories; private descriptions are not published. PostgreSQL keeps reports across application restarts, and duplicate handling and submission limits reduce abuse. We tested this with a real local database. A hosted database still needs setup. Community reports remain unverified, so a reported number is not automatically a confirmed scammer.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03:10–04:00 | 50 seconds</a:t>
            </a:r>
          </a:p>
          <a:p/>
          <a:p>
            <a:r>
              <a:t>For Day 2, we want to connect the experience more smoothly. Our first goal is automatically converting an uploaded recording into text. Next, the text scam finder would analyze that transcript. Finally, we would present a clear, qualitative scam assessment with the supporting findings and uncertainty. These are planned improvements, not features we are claiming work today. Before enabling transcription, we need to evaluate cost, consent, privacy and accuracy. Our aim is useful guidance, not a false promise of certainty.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426"/>
        </a:solidFill>
        <a:effectLst/>
      </p:bgPr>
    </p:bg>
    <p:spTree>
      <p:nvGrpSpPr>
        <p:cNvPr id="1" name=""/>
        <p:cNvGrpSpPr/>
        <p:nvPr/>
      </p:nvGrpSpPr>
      <p:grpSpPr/>
      <p:sp>
        <p:nvSpPr>
          <p:cNvPr id="2" name="TextBox 1"/>
          <p:cNvSpPr txBox="1"/>
          <p:nvPr/>
        </p:nvSpPr>
        <p:spPr>
          <a:xfrm>
            <a:off x="594360" y="402336"/>
            <a:ext cx="10972800" cy="274320"/>
          </a:xfrm>
          <a:prstGeom prst="rect">
            <a:avLst/>
          </a:prstGeom>
          <a:noFill/>
        </p:spPr>
        <p:txBody>
          <a:bodyPr wrap="square" lIns="0" rIns="0" tIns="0" bIns="0">
            <a:spAutoFit/>
          </a:bodyPr>
          <a:lstStyle/>
          <a:p>
            <a:pPr algn="l">
              <a:spcAft>
                <a:spcPts val="800"/>
              </a:spcAft>
              <a:defRPr sz="1100" b="1">
                <a:solidFill>
                  <a:srgbClr val="69E8DA"/>
                </a:solidFill>
                <a:latin typeface="Arial"/>
              </a:defRPr>
            </a:pPr>
            <a:r>
              <a:t>INTRODUCTION</a:t>
            </a:r>
          </a:p>
        </p:txBody>
      </p:sp>
      <p:sp>
        <p:nvSpPr>
          <p:cNvPr id="3" name="TextBox 2"/>
          <p:cNvSpPr txBox="1"/>
          <p:nvPr/>
        </p:nvSpPr>
        <p:spPr>
          <a:xfrm>
            <a:off x="594360" y="932688"/>
            <a:ext cx="10972800" cy="914400"/>
          </a:xfrm>
          <a:prstGeom prst="rect">
            <a:avLst/>
          </a:prstGeom>
          <a:noFill/>
        </p:spPr>
        <p:txBody>
          <a:bodyPr wrap="square" lIns="0" rIns="0" tIns="0" bIns="0">
            <a:spAutoFit/>
          </a:bodyPr>
          <a:lstStyle/>
          <a:p>
            <a:pPr algn="l">
              <a:spcAft>
                <a:spcPts val="800"/>
              </a:spcAft>
              <a:defRPr sz="3600" b="1">
                <a:solidFill>
                  <a:srgbClr val="F3F7FF"/>
                </a:solidFill>
                <a:latin typeface="Arial"/>
              </a:defRPr>
            </a:pPr>
            <a:r>
              <a:t>EchoGuard</a:t>
            </a:r>
          </a:p>
        </p:txBody>
      </p:sp>
      <p:cxnSp>
        <p:nvCxnSpPr>
          <p:cNvPr id="4" name="Connector 3"/>
          <p:cNvCxnSpPr/>
          <p:nvPr/>
        </p:nvCxnSpPr>
        <p:spPr>
          <a:xfrm>
            <a:off x="594360" y="6419088"/>
            <a:ext cx="10972800" cy="0"/>
          </a:xfrm>
          <a:prstGeom prst="line">
            <a:avLst/>
          </a:prstGeom>
          <a:ln w="15240">
            <a:solidFill>
              <a:srgbClr val="2A405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21792" y="6556248"/>
            <a:ext cx="8229600" cy="182880"/>
          </a:xfrm>
          <a:prstGeom prst="rect">
            <a:avLst/>
          </a:prstGeom>
          <a:noFill/>
        </p:spPr>
        <p:txBody>
          <a:bodyPr wrap="square" lIns="0" rIns="0" tIns="0" bIns="0">
            <a:spAutoFit/>
          </a:bodyPr>
          <a:lstStyle/>
          <a:p>
            <a:pPr algn="l">
              <a:spcAft>
                <a:spcPts val="800"/>
              </a:spcAft>
              <a:defRPr sz="1000" b="1">
                <a:solidFill>
                  <a:srgbClr val="ADBED5"/>
                </a:solidFill>
                <a:latin typeface="Arial"/>
              </a:defRPr>
            </a:pPr>
            <a:r>
              <a:t>ECHOGUARD  /  UNCLONE AI</a:t>
            </a:r>
          </a:p>
        </p:txBody>
      </p:sp>
      <p:sp>
        <p:nvSpPr>
          <p:cNvPr id="6" name="TextBox 5"/>
          <p:cNvSpPr txBox="1"/>
          <p:nvPr/>
        </p:nvSpPr>
        <p:spPr>
          <a:xfrm>
            <a:off x="10607040" y="6528816"/>
            <a:ext cx="960120" cy="228600"/>
          </a:xfrm>
          <a:prstGeom prst="rect">
            <a:avLst/>
          </a:prstGeom>
          <a:noFill/>
        </p:spPr>
        <p:txBody>
          <a:bodyPr wrap="square" lIns="0" rIns="0" tIns="0" bIns="0">
            <a:spAutoFit/>
          </a:bodyPr>
          <a:lstStyle/>
          <a:p>
            <a:pPr algn="r">
              <a:spcAft>
                <a:spcPts val="800"/>
              </a:spcAft>
              <a:defRPr sz="1100" b="1">
                <a:solidFill>
                  <a:srgbClr val="69E8DA"/>
                </a:solidFill>
                <a:latin typeface="Arial"/>
              </a:defRPr>
            </a:pPr>
            <a:r>
              <a:t>01 / 05</a:t>
            </a:r>
          </a:p>
        </p:txBody>
      </p:sp>
      <p:sp>
        <p:nvSpPr>
          <p:cNvPr id="7" name="TextBox 6"/>
          <p:cNvSpPr txBox="1"/>
          <p:nvPr/>
        </p:nvSpPr>
        <p:spPr>
          <a:xfrm>
            <a:off x="640080" y="2148840"/>
            <a:ext cx="7315200" cy="1463040"/>
          </a:xfrm>
          <a:prstGeom prst="rect">
            <a:avLst/>
          </a:prstGeom>
          <a:noFill/>
        </p:spPr>
        <p:txBody>
          <a:bodyPr wrap="square" lIns="0" rIns="0" tIns="0" bIns="0">
            <a:spAutoFit/>
          </a:bodyPr>
          <a:lstStyle/>
          <a:p>
            <a:pPr algn="l">
              <a:spcAft>
                <a:spcPts val="800"/>
              </a:spcAft>
              <a:defRPr sz="4300" b="1">
                <a:solidFill>
                  <a:srgbClr val="69E8DA"/>
                </a:solidFill>
                <a:latin typeface="Arial"/>
              </a:defRPr>
            </a:pPr>
            <a:r>
              <a:t>Hear the voice.</a:t>
            </a:r>
          </a:p>
          <a:p>
            <a:pPr algn="l">
              <a:spcAft>
                <a:spcPts val="800"/>
              </a:spcAft>
              <a:defRPr sz="4300" b="1">
                <a:solidFill>
                  <a:srgbClr val="69E8DA"/>
                </a:solidFill>
                <a:latin typeface="Arial"/>
              </a:defRPr>
            </a:pPr>
            <a:r>
              <a:t>Uncover the risk.</a:t>
            </a:r>
          </a:p>
        </p:txBody>
      </p:sp>
      <p:sp>
        <p:nvSpPr>
          <p:cNvPr id="8" name="TextBox 7"/>
          <p:cNvSpPr txBox="1"/>
          <p:nvPr/>
        </p:nvSpPr>
        <p:spPr>
          <a:xfrm>
            <a:off x="667512" y="4069080"/>
            <a:ext cx="9052560" cy="868680"/>
          </a:xfrm>
          <a:prstGeom prst="rect">
            <a:avLst/>
          </a:prstGeom>
          <a:noFill/>
        </p:spPr>
        <p:txBody>
          <a:bodyPr wrap="square" lIns="0" rIns="0" tIns="0" bIns="0">
            <a:spAutoFit/>
          </a:bodyPr>
          <a:lstStyle/>
          <a:p>
            <a:pPr algn="l">
              <a:spcAft>
                <a:spcPts val="800"/>
              </a:spcAft>
              <a:defRPr sz="2500" b="0">
                <a:solidFill>
                  <a:srgbClr val="F3F7FF"/>
                </a:solidFill>
                <a:latin typeface="Arial"/>
              </a:defRPr>
            </a:pPr>
            <a:r>
              <a:t>A practical way to investigate suspicious</a:t>
            </a:r>
          </a:p>
          <a:p>
            <a:pPr algn="l">
              <a:spcAft>
                <a:spcPts val="800"/>
              </a:spcAft>
              <a:defRPr sz="2500" b="0">
                <a:solidFill>
                  <a:srgbClr val="F3F7FF"/>
                </a:solidFill>
                <a:latin typeface="Arial"/>
              </a:defRPr>
            </a:pPr>
            <a:r>
              <a:t>voices, messages and phone numbers.</a:t>
            </a:r>
          </a:p>
        </p:txBody>
      </p:sp>
      <p:cxnSp>
        <p:nvCxnSpPr>
          <p:cNvPr id="9" name="Connector 8"/>
          <p:cNvCxnSpPr/>
          <p:nvPr/>
        </p:nvCxnSpPr>
        <p:spPr>
          <a:xfrm>
            <a:off x="667512" y="5559552"/>
            <a:ext cx="3383279" cy="0"/>
          </a:xfrm>
          <a:prstGeom prst="line">
            <a:avLst/>
          </a:prstGeom>
          <a:ln w="15240">
            <a:solidFill>
              <a:srgbClr val="69E8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67512" y="5779008"/>
            <a:ext cx="3566160" cy="274320"/>
          </a:xfrm>
          <a:prstGeom prst="rect">
            <a:avLst/>
          </a:prstGeom>
          <a:noFill/>
        </p:spPr>
        <p:txBody>
          <a:bodyPr wrap="square" lIns="0" rIns="0" tIns="0" bIns="0">
            <a:spAutoFit/>
          </a:bodyPr>
          <a:lstStyle/>
          <a:p>
            <a:pPr algn="l">
              <a:spcAft>
                <a:spcPts val="800"/>
              </a:spcAft>
              <a:defRPr sz="1400" b="1">
                <a:solidFill>
                  <a:srgbClr val="69E8DA"/>
                </a:solidFill>
                <a:latin typeface="Arial"/>
              </a:defRPr>
            </a:pPr>
            <a:r>
              <a:t>VOICE AUTHENTICITY</a:t>
            </a:r>
          </a:p>
        </p:txBody>
      </p:sp>
      <p:cxnSp>
        <p:nvCxnSpPr>
          <p:cNvPr id="11" name="Connector 10"/>
          <p:cNvCxnSpPr/>
          <p:nvPr/>
        </p:nvCxnSpPr>
        <p:spPr>
          <a:xfrm>
            <a:off x="4398264" y="5559552"/>
            <a:ext cx="3383280" cy="0"/>
          </a:xfrm>
          <a:prstGeom prst="line">
            <a:avLst/>
          </a:prstGeom>
          <a:ln w="15240">
            <a:solidFill>
              <a:srgbClr val="BEAEF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398264" y="5779008"/>
            <a:ext cx="3566160" cy="274320"/>
          </a:xfrm>
          <a:prstGeom prst="rect">
            <a:avLst/>
          </a:prstGeom>
          <a:noFill/>
        </p:spPr>
        <p:txBody>
          <a:bodyPr wrap="square" lIns="0" rIns="0" tIns="0" bIns="0">
            <a:spAutoFit/>
          </a:bodyPr>
          <a:lstStyle/>
          <a:p>
            <a:pPr algn="l">
              <a:spcAft>
                <a:spcPts val="800"/>
              </a:spcAft>
              <a:defRPr sz="1400" b="1">
                <a:solidFill>
                  <a:srgbClr val="BEAEFF"/>
                </a:solidFill>
                <a:latin typeface="Arial"/>
              </a:defRPr>
            </a:pPr>
            <a:r>
              <a:t>TEXT SCAM FINDER</a:t>
            </a:r>
          </a:p>
        </p:txBody>
      </p:sp>
      <p:cxnSp>
        <p:nvCxnSpPr>
          <p:cNvPr id="13" name="Connector 12"/>
          <p:cNvCxnSpPr/>
          <p:nvPr/>
        </p:nvCxnSpPr>
        <p:spPr>
          <a:xfrm>
            <a:off x="8129016" y="5559552"/>
            <a:ext cx="3383280" cy="0"/>
          </a:xfrm>
          <a:prstGeom prst="line">
            <a:avLst/>
          </a:prstGeom>
          <a:ln w="15240">
            <a:solidFill>
              <a:srgbClr val="FFD69D"/>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129016" y="5779008"/>
            <a:ext cx="3566160" cy="274320"/>
          </a:xfrm>
          <a:prstGeom prst="rect">
            <a:avLst/>
          </a:prstGeom>
          <a:noFill/>
        </p:spPr>
        <p:txBody>
          <a:bodyPr wrap="square" lIns="0" rIns="0" tIns="0" bIns="0">
            <a:spAutoFit/>
          </a:bodyPr>
          <a:lstStyle/>
          <a:p>
            <a:pPr algn="l">
              <a:spcAft>
                <a:spcPts val="800"/>
              </a:spcAft>
              <a:defRPr sz="1400" b="1">
                <a:solidFill>
                  <a:srgbClr val="FFD69D"/>
                </a:solidFill>
                <a:latin typeface="Arial"/>
              </a:defRPr>
            </a:pPr>
            <a:r>
              <a:t>COMMUNITY REPORTS</a:t>
            </a:r>
          </a:p>
        </p:txBody>
      </p:sp>
      <p:pic>
        <p:nvPicPr>
          <p:cNvPr id="15" name="Picture 14" descr="shield.png"/>
          <p:cNvPicPr>
            <a:picLocks noChangeAspect="1"/>
          </p:cNvPicPr>
          <p:nvPr/>
        </p:nvPicPr>
        <p:blipFill>
          <a:blip r:embed="rId2"/>
          <a:stretch>
            <a:fillRect/>
          </a:stretch>
        </p:blipFill>
        <p:spPr>
          <a:xfrm>
            <a:off x="9162288" y="2176272"/>
            <a:ext cx="2202873" cy="2423160"/>
          </a:xfrm>
          <a:prstGeom prst="rect">
            <a:avLst/>
          </a:prstGeom>
        </p:spPr>
      </p:pic>
    </p:spTree>
  </p:cSld>
  <p:clrMapOvr>
    <a:masterClrMapping/>
  </p:clrMapOvr>
  <p:transition spd="med" advClick="1">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426"/>
        </a:solidFill>
        <a:effectLst/>
      </p:bgPr>
    </p:bg>
    <p:spTree>
      <p:nvGrpSpPr>
        <p:cNvPr id="1" name=""/>
        <p:cNvGrpSpPr/>
        <p:nvPr/>
      </p:nvGrpSpPr>
      <p:grpSpPr/>
      <p:sp>
        <p:nvSpPr>
          <p:cNvPr id="2" name="TextBox 1"/>
          <p:cNvSpPr txBox="1"/>
          <p:nvPr/>
        </p:nvSpPr>
        <p:spPr>
          <a:xfrm>
            <a:off x="594360" y="402336"/>
            <a:ext cx="10972800" cy="274320"/>
          </a:xfrm>
          <a:prstGeom prst="rect">
            <a:avLst/>
          </a:prstGeom>
          <a:noFill/>
        </p:spPr>
        <p:txBody>
          <a:bodyPr wrap="square" lIns="0" rIns="0" tIns="0" bIns="0">
            <a:spAutoFit/>
          </a:bodyPr>
          <a:lstStyle/>
          <a:p>
            <a:pPr algn="l">
              <a:spcAft>
                <a:spcPts val="800"/>
              </a:spcAft>
              <a:defRPr sz="1100" b="1">
                <a:solidFill>
                  <a:srgbClr val="69E8DA"/>
                </a:solidFill>
                <a:latin typeface="Arial"/>
              </a:defRPr>
            </a:pPr>
            <a:r>
              <a:t>THREE USEFUL CAPABILITIES</a:t>
            </a:r>
          </a:p>
        </p:txBody>
      </p:sp>
      <p:sp>
        <p:nvSpPr>
          <p:cNvPr id="3" name="TextBox 2"/>
          <p:cNvSpPr txBox="1"/>
          <p:nvPr/>
        </p:nvSpPr>
        <p:spPr>
          <a:xfrm>
            <a:off x="594360" y="932688"/>
            <a:ext cx="10972800" cy="914400"/>
          </a:xfrm>
          <a:prstGeom prst="rect">
            <a:avLst/>
          </a:prstGeom>
          <a:noFill/>
        </p:spPr>
        <p:txBody>
          <a:bodyPr wrap="square" lIns="0" rIns="0" tIns="0" bIns="0">
            <a:spAutoFit/>
          </a:bodyPr>
          <a:lstStyle/>
          <a:p>
            <a:pPr algn="l">
              <a:spcAft>
                <a:spcPts val="800"/>
              </a:spcAft>
              <a:defRPr sz="3600" b="1">
                <a:solidFill>
                  <a:srgbClr val="F3F7FF"/>
                </a:solidFill>
                <a:latin typeface="Arial"/>
              </a:defRPr>
            </a:pPr>
            <a:r>
              <a:t>What it does</a:t>
            </a:r>
          </a:p>
        </p:txBody>
      </p:sp>
      <p:cxnSp>
        <p:nvCxnSpPr>
          <p:cNvPr id="4" name="Connector 3"/>
          <p:cNvCxnSpPr/>
          <p:nvPr/>
        </p:nvCxnSpPr>
        <p:spPr>
          <a:xfrm>
            <a:off x="594360" y="6419088"/>
            <a:ext cx="10972800" cy="0"/>
          </a:xfrm>
          <a:prstGeom prst="line">
            <a:avLst/>
          </a:prstGeom>
          <a:ln w="15240">
            <a:solidFill>
              <a:srgbClr val="2A405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21792" y="6556248"/>
            <a:ext cx="8229600" cy="182880"/>
          </a:xfrm>
          <a:prstGeom prst="rect">
            <a:avLst/>
          </a:prstGeom>
          <a:noFill/>
        </p:spPr>
        <p:txBody>
          <a:bodyPr wrap="square" lIns="0" rIns="0" tIns="0" bIns="0">
            <a:spAutoFit/>
          </a:bodyPr>
          <a:lstStyle/>
          <a:p>
            <a:pPr algn="l">
              <a:spcAft>
                <a:spcPts val="800"/>
              </a:spcAft>
              <a:defRPr sz="1000" b="1">
                <a:solidFill>
                  <a:srgbClr val="ADBED5"/>
                </a:solidFill>
                <a:latin typeface="Arial"/>
              </a:defRPr>
            </a:pPr>
            <a:r>
              <a:t>ECHOGUARD  /  UNCLONE AI</a:t>
            </a:r>
          </a:p>
        </p:txBody>
      </p:sp>
      <p:sp>
        <p:nvSpPr>
          <p:cNvPr id="6" name="TextBox 5"/>
          <p:cNvSpPr txBox="1"/>
          <p:nvPr/>
        </p:nvSpPr>
        <p:spPr>
          <a:xfrm>
            <a:off x="10607040" y="6528816"/>
            <a:ext cx="960120" cy="228600"/>
          </a:xfrm>
          <a:prstGeom prst="rect">
            <a:avLst/>
          </a:prstGeom>
          <a:noFill/>
        </p:spPr>
        <p:txBody>
          <a:bodyPr wrap="square" lIns="0" rIns="0" tIns="0" bIns="0">
            <a:spAutoFit/>
          </a:bodyPr>
          <a:lstStyle/>
          <a:p>
            <a:pPr algn="r">
              <a:spcAft>
                <a:spcPts val="800"/>
              </a:spcAft>
              <a:defRPr sz="1100" b="1">
                <a:solidFill>
                  <a:srgbClr val="69E8DA"/>
                </a:solidFill>
                <a:latin typeface="Arial"/>
              </a:defRPr>
            </a:pPr>
            <a:r>
              <a:t>02 / 05</a:t>
            </a:r>
          </a:p>
        </p:txBody>
      </p:sp>
      <p:sp>
        <p:nvSpPr>
          <p:cNvPr id="7" name="Rounded Rectangle 6"/>
          <p:cNvSpPr/>
          <p:nvPr/>
        </p:nvSpPr>
        <p:spPr>
          <a:xfrm>
            <a:off x="612648" y="2331720"/>
            <a:ext cx="3474720" cy="2898648"/>
          </a:xfrm>
          <a:prstGeom prst="roundRect">
            <a:avLst>
              <a:gd name="adj" fmla="val 12000"/>
            </a:avLst>
          </a:prstGeom>
          <a:solidFill>
            <a:srgbClr val="13243B"/>
          </a:solidFill>
          <a:ln>
            <a:solidFill>
              <a:srgbClr val="2A40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596896"/>
            <a:ext cx="3017520" cy="274320"/>
          </a:xfrm>
          <a:prstGeom prst="rect">
            <a:avLst/>
          </a:prstGeom>
          <a:noFill/>
        </p:spPr>
        <p:txBody>
          <a:bodyPr wrap="square" lIns="0" rIns="0" tIns="0" bIns="0">
            <a:spAutoFit/>
          </a:bodyPr>
          <a:lstStyle/>
          <a:p>
            <a:pPr algn="l">
              <a:spcAft>
                <a:spcPts val="800"/>
              </a:spcAft>
              <a:defRPr sz="1200" b="1">
                <a:solidFill>
                  <a:srgbClr val="69E8DA"/>
                </a:solidFill>
                <a:latin typeface="Arial"/>
              </a:defRPr>
            </a:pPr>
            <a:r>
              <a:t>VOICE</a:t>
            </a:r>
          </a:p>
        </p:txBody>
      </p:sp>
      <p:sp>
        <p:nvSpPr>
          <p:cNvPr id="9" name="TextBox 8"/>
          <p:cNvSpPr txBox="1"/>
          <p:nvPr/>
        </p:nvSpPr>
        <p:spPr>
          <a:xfrm>
            <a:off x="822960" y="3099816"/>
            <a:ext cx="3054096" cy="868680"/>
          </a:xfrm>
          <a:prstGeom prst="rect">
            <a:avLst/>
          </a:prstGeom>
          <a:noFill/>
        </p:spPr>
        <p:txBody>
          <a:bodyPr wrap="square" lIns="0" rIns="0" tIns="0" bIns="0">
            <a:spAutoFit/>
          </a:bodyPr>
          <a:lstStyle/>
          <a:p>
            <a:pPr algn="l">
              <a:spcAft>
                <a:spcPts val="800"/>
              </a:spcAft>
              <a:defRPr sz="2500" b="1">
                <a:solidFill>
                  <a:srgbClr val="F3F7FF"/>
                </a:solidFill>
                <a:latin typeface="Arial"/>
              </a:defRPr>
            </a:pPr>
            <a:r>
              <a:t>Question the recording.</a:t>
            </a:r>
          </a:p>
        </p:txBody>
      </p:sp>
      <p:sp>
        <p:nvSpPr>
          <p:cNvPr id="10" name="TextBox 9"/>
          <p:cNvSpPr txBox="1"/>
          <p:nvPr/>
        </p:nvSpPr>
        <p:spPr>
          <a:xfrm>
            <a:off x="822960" y="4160520"/>
            <a:ext cx="3054096" cy="941832"/>
          </a:xfrm>
          <a:prstGeom prst="rect">
            <a:avLst/>
          </a:prstGeom>
          <a:noFill/>
        </p:spPr>
        <p:txBody>
          <a:bodyPr wrap="square" lIns="0" rIns="0" tIns="0" bIns="0">
            <a:spAutoFit/>
          </a:bodyPr>
          <a:lstStyle/>
          <a:p>
            <a:pPr algn="l">
              <a:spcAft>
                <a:spcPts val="800"/>
              </a:spcAft>
              <a:defRPr sz="1600" b="0">
                <a:solidFill>
                  <a:srgbClr val="ADBED5"/>
                </a:solidFill>
                <a:latin typeface="Arial"/>
              </a:defRPr>
            </a:pPr>
            <a:r>
              <a:t>Checks recordings for signs</a:t>
            </a:r>
          </a:p>
          <a:p>
            <a:pPr algn="l">
              <a:spcAft>
                <a:spcPts val="800"/>
              </a:spcAft>
              <a:defRPr sz="1600" b="0">
                <a:solidFill>
                  <a:srgbClr val="ADBED5"/>
                </a:solidFill>
                <a:latin typeface="Arial"/>
              </a:defRPr>
            </a:pPr>
            <a:r>
              <a:t>of synthetic speech using</a:t>
            </a:r>
          </a:p>
          <a:p>
            <a:pPr algn="l">
              <a:spcAft>
                <a:spcPts val="800"/>
              </a:spcAft>
              <a:defRPr sz="1600" b="0">
                <a:solidFill>
                  <a:srgbClr val="ADBED5"/>
                </a:solidFill>
                <a:latin typeface="Arial"/>
              </a:defRPr>
            </a:pPr>
            <a:r>
              <a:t>DetectifAI, when configured.</a:t>
            </a:r>
          </a:p>
        </p:txBody>
      </p:sp>
      <p:sp>
        <p:nvSpPr>
          <p:cNvPr id="11" name="Rounded Rectangle 10"/>
          <p:cNvSpPr/>
          <p:nvPr/>
        </p:nvSpPr>
        <p:spPr>
          <a:xfrm>
            <a:off x="4361688" y="2331720"/>
            <a:ext cx="3474720" cy="2898648"/>
          </a:xfrm>
          <a:prstGeom prst="roundRect">
            <a:avLst>
              <a:gd name="adj" fmla="val 12000"/>
            </a:avLst>
          </a:prstGeom>
          <a:solidFill>
            <a:srgbClr val="13243B"/>
          </a:solidFill>
          <a:ln>
            <a:solidFill>
              <a:srgbClr val="2A40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2596896"/>
            <a:ext cx="3017520" cy="274320"/>
          </a:xfrm>
          <a:prstGeom prst="rect">
            <a:avLst/>
          </a:prstGeom>
          <a:noFill/>
        </p:spPr>
        <p:txBody>
          <a:bodyPr wrap="square" lIns="0" rIns="0" tIns="0" bIns="0">
            <a:spAutoFit/>
          </a:bodyPr>
          <a:lstStyle/>
          <a:p>
            <a:pPr algn="l">
              <a:spcAft>
                <a:spcPts val="800"/>
              </a:spcAft>
              <a:defRPr sz="1200" b="1">
                <a:solidFill>
                  <a:srgbClr val="BEAEFF"/>
                </a:solidFill>
                <a:latin typeface="Arial"/>
              </a:defRPr>
            </a:pPr>
            <a:r>
              <a:t>TEXT</a:t>
            </a:r>
          </a:p>
        </p:txBody>
      </p:sp>
      <p:sp>
        <p:nvSpPr>
          <p:cNvPr id="13" name="TextBox 12"/>
          <p:cNvSpPr txBox="1"/>
          <p:nvPr/>
        </p:nvSpPr>
        <p:spPr>
          <a:xfrm>
            <a:off x="4572000" y="3099816"/>
            <a:ext cx="3054096" cy="868680"/>
          </a:xfrm>
          <a:prstGeom prst="rect">
            <a:avLst/>
          </a:prstGeom>
          <a:noFill/>
        </p:spPr>
        <p:txBody>
          <a:bodyPr wrap="square" lIns="0" rIns="0" tIns="0" bIns="0">
            <a:spAutoFit/>
          </a:bodyPr>
          <a:lstStyle/>
          <a:p>
            <a:pPr algn="l">
              <a:spcAft>
                <a:spcPts val="800"/>
              </a:spcAft>
              <a:defRPr sz="2500" b="1">
                <a:solidFill>
                  <a:srgbClr val="F3F7FF"/>
                </a:solidFill>
                <a:latin typeface="Arial"/>
              </a:defRPr>
            </a:pPr>
            <a:r>
              <a:t>Understand the request.</a:t>
            </a:r>
          </a:p>
        </p:txBody>
      </p:sp>
      <p:sp>
        <p:nvSpPr>
          <p:cNvPr id="14" name="TextBox 13"/>
          <p:cNvSpPr txBox="1"/>
          <p:nvPr/>
        </p:nvSpPr>
        <p:spPr>
          <a:xfrm>
            <a:off x="4572000" y="4160520"/>
            <a:ext cx="3054096" cy="941832"/>
          </a:xfrm>
          <a:prstGeom prst="rect">
            <a:avLst/>
          </a:prstGeom>
          <a:noFill/>
        </p:spPr>
        <p:txBody>
          <a:bodyPr wrap="square" lIns="0" rIns="0" tIns="0" bIns="0">
            <a:spAutoFit/>
          </a:bodyPr>
          <a:lstStyle/>
          <a:p>
            <a:pPr algn="l">
              <a:spcAft>
                <a:spcPts val="800"/>
              </a:spcAft>
              <a:defRPr sz="1600" b="0">
                <a:solidFill>
                  <a:srgbClr val="ADBED5"/>
                </a:solidFill>
                <a:latin typeface="Arial"/>
              </a:defRPr>
            </a:pPr>
            <a:r>
              <a:t>Checks job offers, banking</a:t>
            </a:r>
          </a:p>
          <a:p>
            <a:pPr algn="l">
              <a:spcAft>
                <a:spcPts val="800"/>
              </a:spcAft>
              <a:defRPr sz="1600" b="0">
                <a:solidFill>
                  <a:srgbClr val="ADBED5"/>
                </a:solidFill>
                <a:latin typeface="Arial"/>
              </a:defRPr>
            </a:pPr>
            <a:r>
              <a:t>messages, payment demands</a:t>
            </a:r>
          </a:p>
          <a:p>
            <a:pPr algn="l">
              <a:spcAft>
                <a:spcPts val="800"/>
              </a:spcAft>
              <a:defRPr sz="1600" b="0">
                <a:solidFill>
                  <a:srgbClr val="ADBED5"/>
                </a:solidFill>
                <a:latin typeface="Arial"/>
              </a:defRPr>
            </a:pPr>
            <a:r>
              <a:t>and other suspicious text.</a:t>
            </a:r>
          </a:p>
        </p:txBody>
      </p:sp>
      <p:sp>
        <p:nvSpPr>
          <p:cNvPr id="15" name="Rounded Rectangle 14"/>
          <p:cNvSpPr/>
          <p:nvPr/>
        </p:nvSpPr>
        <p:spPr>
          <a:xfrm>
            <a:off x="8110727" y="2331720"/>
            <a:ext cx="3474720" cy="2898648"/>
          </a:xfrm>
          <a:prstGeom prst="roundRect">
            <a:avLst>
              <a:gd name="adj" fmla="val 12000"/>
            </a:avLst>
          </a:prstGeom>
          <a:solidFill>
            <a:srgbClr val="13243B"/>
          </a:solidFill>
          <a:ln>
            <a:solidFill>
              <a:srgbClr val="2A40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1040" y="2596896"/>
            <a:ext cx="3017520" cy="274320"/>
          </a:xfrm>
          <a:prstGeom prst="rect">
            <a:avLst/>
          </a:prstGeom>
          <a:noFill/>
        </p:spPr>
        <p:txBody>
          <a:bodyPr wrap="square" lIns="0" rIns="0" tIns="0" bIns="0">
            <a:spAutoFit/>
          </a:bodyPr>
          <a:lstStyle/>
          <a:p>
            <a:pPr algn="l">
              <a:spcAft>
                <a:spcPts val="800"/>
              </a:spcAft>
              <a:defRPr sz="1200" b="1">
                <a:solidFill>
                  <a:srgbClr val="FFD69D"/>
                </a:solidFill>
                <a:latin typeface="Arial"/>
              </a:defRPr>
            </a:pPr>
            <a:r>
              <a:t>COMMUNITY</a:t>
            </a:r>
          </a:p>
        </p:txBody>
      </p:sp>
      <p:sp>
        <p:nvSpPr>
          <p:cNvPr id="17" name="TextBox 16"/>
          <p:cNvSpPr txBox="1"/>
          <p:nvPr/>
        </p:nvSpPr>
        <p:spPr>
          <a:xfrm>
            <a:off x="8321040" y="3099816"/>
            <a:ext cx="3054096" cy="868680"/>
          </a:xfrm>
          <a:prstGeom prst="rect">
            <a:avLst/>
          </a:prstGeom>
          <a:noFill/>
        </p:spPr>
        <p:txBody>
          <a:bodyPr wrap="square" lIns="0" rIns="0" tIns="0" bIns="0">
            <a:spAutoFit/>
          </a:bodyPr>
          <a:lstStyle/>
          <a:p>
            <a:pPr algn="l">
              <a:spcAft>
                <a:spcPts val="800"/>
              </a:spcAft>
              <a:defRPr sz="2500" b="1">
                <a:solidFill>
                  <a:srgbClr val="F3F7FF"/>
                </a:solidFill>
                <a:latin typeface="Arial"/>
              </a:defRPr>
            </a:pPr>
            <a:r>
              <a:t>Learn from reports.</a:t>
            </a:r>
          </a:p>
        </p:txBody>
      </p:sp>
      <p:sp>
        <p:nvSpPr>
          <p:cNvPr id="18" name="TextBox 17"/>
          <p:cNvSpPr txBox="1"/>
          <p:nvPr/>
        </p:nvSpPr>
        <p:spPr>
          <a:xfrm>
            <a:off x="8321040" y="4160520"/>
            <a:ext cx="3054096" cy="941832"/>
          </a:xfrm>
          <a:prstGeom prst="rect">
            <a:avLst/>
          </a:prstGeom>
          <a:noFill/>
        </p:spPr>
        <p:txBody>
          <a:bodyPr wrap="square" lIns="0" rIns="0" tIns="0" bIns="0">
            <a:spAutoFit/>
          </a:bodyPr>
          <a:lstStyle/>
          <a:p>
            <a:pPr algn="l">
              <a:spcAft>
                <a:spcPts val="800"/>
              </a:spcAft>
              <a:defRPr sz="1600" b="0">
                <a:solidFill>
                  <a:srgbClr val="ADBED5"/>
                </a:solidFill>
                <a:latin typeface="Arial"/>
              </a:defRPr>
            </a:pPr>
            <a:r>
              <a:t>Search phone report totals</a:t>
            </a:r>
          </a:p>
          <a:p>
            <a:pPr algn="l">
              <a:spcAft>
                <a:spcPts val="800"/>
              </a:spcAft>
              <a:defRPr sz="1600" b="0">
                <a:solidFill>
                  <a:srgbClr val="ADBED5"/>
                </a:solidFill>
                <a:latin typeface="Arial"/>
              </a:defRPr>
            </a:pPr>
            <a:r>
              <a:t>and share suspicious-call</a:t>
            </a:r>
          </a:p>
          <a:p>
            <a:pPr algn="l">
              <a:spcAft>
                <a:spcPts val="800"/>
              </a:spcAft>
              <a:defRPr sz="1600" b="0">
                <a:solidFill>
                  <a:srgbClr val="ADBED5"/>
                </a:solidFill>
                <a:latin typeface="Arial"/>
              </a:defRPr>
            </a:pPr>
            <a:r>
              <a:t>experiences with others.</a:t>
            </a:r>
          </a:p>
        </p:txBody>
      </p:sp>
      <p:sp>
        <p:nvSpPr>
          <p:cNvPr id="19" name="TextBox 18"/>
          <p:cNvSpPr txBox="1"/>
          <p:nvPr/>
        </p:nvSpPr>
        <p:spPr>
          <a:xfrm>
            <a:off x="667512" y="5650992"/>
            <a:ext cx="10881360" cy="438912"/>
          </a:xfrm>
          <a:prstGeom prst="rect">
            <a:avLst/>
          </a:prstGeom>
          <a:noFill/>
        </p:spPr>
        <p:txBody>
          <a:bodyPr wrap="square" lIns="0" rIns="0" tIns="0" bIns="0">
            <a:spAutoFit/>
          </a:bodyPr>
          <a:lstStyle/>
          <a:p>
            <a:pPr algn="l">
              <a:spcAft>
                <a:spcPts val="800"/>
              </a:spcAft>
              <a:defRPr sz="2400" b="1">
                <a:solidFill>
                  <a:srgbClr val="F3F7FF"/>
                </a:solidFill>
                <a:latin typeface="Arial"/>
              </a:defRPr>
            </a:pPr>
            <a:r>
              <a:t>Clear explanations. No numerical scam probabilities.</a:t>
            </a:r>
          </a:p>
        </p:txBody>
      </p:sp>
    </p:spTree>
  </p:cSld>
  <p:clrMapOvr>
    <a:masterClrMapping/>
  </p:clrMapOvr>
  <p:transition spd="med"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426"/>
        </a:solidFill>
        <a:effectLst/>
      </p:bgPr>
    </p:bg>
    <p:spTree>
      <p:nvGrpSpPr>
        <p:cNvPr id="1" name=""/>
        <p:cNvGrpSpPr/>
        <p:nvPr/>
      </p:nvGrpSpPr>
      <p:grpSpPr/>
      <p:sp>
        <p:nvSpPr>
          <p:cNvPr id="2" name="TextBox 1"/>
          <p:cNvSpPr txBox="1"/>
          <p:nvPr/>
        </p:nvSpPr>
        <p:spPr>
          <a:xfrm>
            <a:off x="594360" y="402336"/>
            <a:ext cx="10972800" cy="274320"/>
          </a:xfrm>
          <a:prstGeom prst="rect">
            <a:avLst/>
          </a:prstGeom>
          <a:noFill/>
        </p:spPr>
        <p:txBody>
          <a:bodyPr wrap="square" lIns="0" rIns="0" tIns="0" bIns="0">
            <a:spAutoFit/>
          </a:bodyPr>
          <a:lstStyle/>
          <a:p>
            <a:pPr algn="l">
              <a:spcAft>
                <a:spcPts val="800"/>
              </a:spcAft>
              <a:defRPr sz="1100" b="1">
                <a:solidFill>
                  <a:srgbClr val="69E8DA"/>
                </a:solidFill>
                <a:latin typeface="Arial"/>
              </a:defRPr>
            </a:pPr>
            <a:r>
              <a:t>TWO DIFFERENT QUESTIONS. TWO CLEAR EXPLANATIONS.</a:t>
            </a:r>
          </a:p>
        </p:txBody>
      </p:sp>
      <p:sp>
        <p:nvSpPr>
          <p:cNvPr id="3" name="TextBox 2"/>
          <p:cNvSpPr txBox="1"/>
          <p:nvPr/>
        </p:nvSpPr>
        <p:spPr>
          <a:xfrm>
            <a:off x="594360" y="932688"/>
            <a:ext cx="10972800" cy="914400"/>
          </a:xfrm>
          <a:prstGeom prst="rect">
            <a:avLst/>
          </a:prstGeom>
          <a:noFill/>
        </p:spPr>
        <p:txBody>
          <a:bodyPr wrap="square" lIns="0" rIns="0" tIns="0" bIns="0">
            <a:spAutoFit/>
          </a:bodyPr>
          <a:lstStyle/>
          <a:p>
            <a:pPr algn="l">
              <a:spcAft>
                <a:spcPts val="800"/>
              </a:spcAft>
              <a:defRPr sz="3600" b="1">
                <a:solidFill>
                  <a:srgbClr val="F3F7FF"/>
                </a:solidFill>
                <a:latin typeface="Arial"/>
              </a:defRPr>
            </a:pPr>
            <a:r>
              <a:t>Synthetic voice detection + text scam finder</a:t>
            </a:r>
          </a:p>
        </p:txBody>
      </p:sp>
      <p:cxnSp>
        <p:nvCxnSpPr>
          <p:cNvPr id="4" name="Connector 3"/>
          <p:cNvCxnSpPr/>
          <p:nvPr/>
        </p:nvCxnSpPr>
        <p:spPr>
          <a:xfrm>
            <a:off x="594360" y="6419088"/>
            <a:ext cx="10972800" cy="0"/>
          </a:xfrm>
          <a:prstGeom prst="line">
            <a:avLst/>
          </a:prstGeom>
          <a:ln w="15240">
            <a:solidFill>
              <a:srgbClr val="2A405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21792" y="6556248"/>
            <a:ext cx="8229600" cy="182880"/>
          </a:xfrm>
          <a:prstGeom prst="rect">
            <a:avLst/>
          </a:prstGeom>
          <a:noFill/>
        </p:spPr>
        <p:txBody>
          <a:bodyPr wrap="square" lIns="0" rIns="0" tIns="0" bIns="0">
            <a:spAutoFit/>
          </a:bodyPr>
          <a:lstStyle/>
          <a:p>
            <a:pPr algn="l">
              <a:spcAft>
                <a:spcPts val="800"/>
              </a:spcAft>
              <a:defRPr sz="1000" b="1">
                <a:solidFill>
                  <a:srgbClr val="ADBED5"/>
                </a:solidFill>
                <a:latin typeface="Arial"/>
              </a:defRPr>
            </a:pPr>
            <a:r>
              <a:t>ECHOGUARD  /  UNCLONE AI</a:t>
            </a:r>
          </a:p>
        </p:txBody>
      </p:sp>
      <p:sp>
        <p:nvSpPr>
          <p:cNvPr id="6" name="TextBox 5"/>
          <p:cNvSpPr txBox="1"/>
          <p:nvPr/>
        </p:nvSpPr>
        <p:spPr>
          <a:xfrm>
            <a:off x="10607040" y="6528816"/>
            <a:ext cx="960120" cy="228600"/>
          </a:xfrm>
          <a:prstGeom prst="rect">
            <a:avLst/>
          </a:prstGeom>
          <a:noFill/>
        </p:spPr>
        <p:txBody>
          <a:bodyPr wrap="square" lIns="0" rIns="0" tIns="0" bIns="0">
            <a:spAutoFit/>
          </a:bodyPr>
          <a:lstStyle/>
          <a:p>
            <a:pPr algn="r">
              <a:spcAft>
                <a:spcPts val="800"/>
              </a:spcAft>
              <a:defRPr sz="1100" b="1">
                <a:solidFill>
                  <a:srgbClr val="69E8DA"/>
                </a:solidFill>
                <a:latin typeface="Arial"/>
              </a:defRPr>
            </a:pPr>
            <a:r>
              <a:t>03 / 05</a:t>
            </a:r>
          </a:p>
        </p:txBody>
      </p:sp>
      <p:sp>
        <p:nvSpPr>
          <p:cNvPr id="7" name="Rounded Rectangle 6"/>
          <p:cNvSpPr/>
          <p:nvPr/>
        </p:nvSpPr>
        <p:spPr>
          <a:xfrm>
            <a:off x="612648" y="2011680"/>
            <a:ext cx="5340096" cy="3611880"/>
          </a:xfrm>
          <a:prstGeom prst="roundRect">
            <a:avLst>
              <a:gd name="adj" fmla="val 12000"/>
            </a:avLst>
          </a:prstGeom>
          <a:solidFill>
            <a:srgbClr val="13243B"/>
          </a:solidFill>
          <a:ln>
            <a:solidFill>
              <a:srgbClr val="2A40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a:off x="822960" y="2706624"/>
            <a:ext cx="4901184" cy="0"/>
          </a:xfrm>
          <a:prstGeom prst="line">
            <a:avLst/>
          </a:prstGeom>
          <a:ln w="15240">
            <a:solidFill>
              <a:srgbClr val="69E8DA"/>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236208" y="2011680"/>
            <a:ext cx="5340096" cy="3611880"/>
          </a:xfrm>
          <a:prstGeom prst="roundRect">
            <a:avLst>
              <a:gd name="adj" fmla="val 12000"/>
            </a:avLst>
          </a:prstGeom>
          <a:solidFill>
            <a:srgbClr val="13243B"/>
          </a:solidFill>
          <a:ln>
            <a:solidFill>
              <a:srgbClr val="2A40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6446520" y="2706624"/>
            <a:ext cx="4901184" cy="0"/>
          </a:xfrm>
          <a:prstGeom prst="line">
            <a:avLst/>
          </a:prstGeom>
          <a:ln w="15240">
            <a:solidFill>
              <a:srgbClr val="BEAEFF"/>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841248" y="2276856"/>
            <a:ext cx="4846320" cy="310896"/>
          </a:xfrm>
          <a:prstGeom prst="rect">
            <a:avLst/>
          </a:prstGeom>
          <a:noFill/>
        </p:spPr>
        <p:txBody>
          <a:bodyPr wrap="square" lIns="0" rIns="0" tIns="0" bIns="0">
            <a:spAutoFit/>
          </a:bodyPr>
          <a:lstStyle/>
          <a:p>
            <a:pPr algn="l">
              <a:spcAft>
                <a:spcPts val="800"/>
              </a:spcAft>
              <a:defRPr sz="1900" b="1">
                <a:solidFill>
                  <a:srgbClr val="69E8DA"/>
                </a:solidFill>
                <a:latin typeface="Arial"/>
              </a:defRPr>
            </a:pPr>
            <a:r>
              <a:t>IS THE VOICE SYNTHETIC?</a:t>
            </a:r>
          </a:p>
        </p:txBody>
      </p:sp>
      <p:sp>
        <p:nvSpPr>
          <p:cNvPr id="12" name="TextBox 11"/>
          <p:cNvSpPr txBox="1"/>
          <p:nvPr/>
        </p:nvSpPr>
        <p:spPr>
          <a:xfrm>
            <a:off x="841248" y="2971800"/>
            <a:ext cx="4718304" cy="804672"/>
          </a:xfrm>
          <a:prstGeom prst="rect">
            <a:avLst/>
          </a:prstGeom>
          <a:noFill/>
        </p:spPr>
        <p:txBody>
          <a:bodyPr wrap="square" lIns="0" rIns="0" tIns="0" bIns="0">
            <a:spAutoFit/>
          </a:bodyPr>
          <a:lstStyle/>
          <a:p>
            <a:pPr algn="l">
              <a:spcAft>
                <a:spcPts val="800"/>
              </a:spcAft>
              <a:defRPr sz="2400" b="1">
                <a:solidFill>
                  <a:srgbClr val="F3F7FF"/>
                </a:solidFill>
                <a:latin typeface="Arial"/>
              </a:defRPr>
            </a:pPr>
            <a:r>
              <a:t>Recording → DetectifAI → voice verdict</a:t>
            </a:r>
          </a:p>
        </p:txBody>
      </p:sp>
      <p:sp>
        <p:nvSpPr>
          <p:cNvPr id="13" name="TextBox 12"/>
          <p:cNvSpPr txBox="1"/>
          <p:nvPr/>
        </p:nvSpPr>
        <p:spPr>
          <a:xfrm>
            <a:off x="841248" y="3986784"/>
            <a:ext cx="4709160" cy="1444752"/>
          </a:xfrm>
          <a:prstGeom prst="rect">
            <a:avLst/>
          </a:prstGeom>
          <a:noFill/>
        </p:spPr>
        <p:txBody>
          <a:bodyPr wrap="square" lIns="0" rIns="0" tIns="0" bIns="0">
            <a:spAutoFit/>
          </a:bodyPr>
          <a:lstStyle/>
          <a:p>
            <a:pPr algn="l">
              <a:spcAft>
                <a:spcPts val="800"/>
              </a:spcAft>
              <a:defRPr sz="1700" b="0">
                <a:solidFill>
                  <a:srgbClr val="ADBED5"/>
                </a:solidFill>
                <a:latin typeface="Arial"/>
              </a:defRPr>
            </a:pPr>
            <a:r>
              <a:t>DetectifAI checks audio for</a:t>
            </a:r>
          </a:p>
          <a:p>
            <a:pPr algn="l">
              <a:spcAft>
                <a:spcPts val="800"/>
              </a:spcAft>
              <a:defRPr sz="1700" b="0">
                <a:solidFill>
                  <a:srgbClr val="ADBED5"/>
                </a:solidFill>
                <a:latin typeface="Arial"/>
              </a:defRPr>
            </a:pPr>
            <a:r>
              <a:t>synthetic-speech indications.</a:t>
            </a:r>
          </a:p>
          <a:p>
            <a:pPr algn="l">
              <a:spcAft>
                <a:spcPts val="800"/>
              </a:spcAft>
              <a:defRPr sz="1700" b="0">
                <a:solidFill>
                  <a:srgbClr val="ADBED5"/>
                </a:solidFill>
                <a:latin typeface="Arial"/>
              </a:defRPr>
            </a:pPr>
            <a:r>
              <a:t>Returns real, fake or not sure.</a:t>
            </a:r>
          </a:p>
          <a:p>
            <a:pPr algn="l">
              <a:spcAft>
                <a:spcPts val="800"/>
              </a:spcAft>
              <a:defRPr sz="1700" b="0">
                <a:solidFill>
                  <a:srgbClr val="ADBED5"/>
                </a:solidFill>
                <a:latin typeface="Arial"/>
              </a:defRPr>
            </a:pPr>
            <a:r>
              <a:t>A fake voice does not prove fraud.</a:t>
            </a:r>
          </a:p>
        </p:txBody>
      </p:sp>
      <p:sp>
        <p:nvSpPr>
          <p:cNvPr id="14" name="TextBox 13"/>
          <p:cNvSpPr txBox="1"/>
          <p:nvPr/>
        </p:nvSpPr>
        <p:spPr>
          <a:xfrm>
            <a:off x="6464808" y="2276856"/>
            <a:ext cx="4736592" cy="310896"/>
          </a:xfrm>
          <a:prstGeom prst="rect">
            <a:avLst/>
          </a:prstGeom>
          <a:noFill/>
        </p:spPr>
        <p:txBody>
          <a:bodyPr wrap="square" lIns="0" rIns="0" tIns="0" bIns="0">
            <a:spAutoFit/>
          </a:bodyPr>
          <a:lstStyle/>
          <a:p>
            <a:pPr algn="l">
              <a:spcAft>
                <a:spcPts val="800"/>
              </a:spcAft>
              <a:defRPr sz="1800" b="1">
                <a:solidFill>
                  <a:srgbClr val="BEAEFF"/>
                </a:solidFill>
                <a:latin typeface="Arial"/>
              </a:defRPr>
            </a:pPr>
            <a:r>
              <a:t>WHAT MAKES THE MESSAGE RISKY?</a:t>
            </a:r>
          </a:p>
        </p:txBody>
      </p:sp>
      <p:sp>
        <p:nvSpPr>
          <p:cNvPr id="15" name="TextBox 14"/>
          <p:cNvSpPr txBox="1"/>
          <p:nvPr/>
        </p:nvSpPr>
        <p:spPr>
          <a:xfrm>
            <a:off x="6464808" y="2971800"/>
            <a:ext cx="4663440" cy="804672"/>
          </a:xfrm>
          <a:prstGeom prst="rect">
            <a:avLst/>
          </a:prstGeom>
          <a:noFill/>
        </p:spPr>
        <p:txBody>
          <a:bodyPr wrap="square" lIns="0" rIns="0" tIns="0" bIns="0">
            <a:spAutoFit/>
          </a:bodyPr>
          <a:lstStyle/>
          <a:p>
            <a:pPr algn="l">
              <a:spcAft>
                <a:spcPts val="800"/>
              </a:spcAft>
              <a:defRPr sz="2400" b="1">
                <a:solidFill>
                  <a:srgbClr val="F3F7FF"/>
                </a:solidFill>
                <a:latin typeface="Arial"/>
              </a:defRPr>
            </a:pPr>
            <a:r>
              <a:t>Text → contextual rules → explained findings</a:t>
            </a:r>
          </a:p>
        </p:txBody>
      </p:sp>
      <p:sp>
        <p:nvSpPr>
          <p:cNvPr id="16" name="TextBox 15"/>
          <p:cNvSpPr txBox="1"/>
          <p:nvPr/>
        </p:nvSpPr>
        <p:spPr>
          <a:xfrm>
            <a:off x="6464808" y="3986784"/>
            <a:ext cx="4663440" cy="1444752"/>
          </a:xfrm>
          <a:prstGeom prst="rect">
            <a:avLst/>
          </a:prstGeom>
          <a:noFill/>
        </p:spPr>
        <p:txBody>
          <a:bodyPr wrap="square" lIns="0" rIns="0" tIns="0" bIns="0">
            <a:spAutoFit/>
          </a:bodyPr>
          <a:lstStyle/>
          <a:p>
            <a:pPr algn="l">
              <a:spcAft>
                <a:spcPts val="800"/>
              </a:spcAft>
              <a:defRPr sz="1700" b="0">
                <a:solidFill>
                  <a:srgbClr val="ADBED5"/>
                </a:solidFill>
                <a:latin typeface="Arial"/>
              </a:defRPr>
            </a:pPr>
            <a:r>
              <a:t>Uses local, context-aware rules.</a:t>
            </a:r>
          </a:p>
          <a:p>
            <a:pPr algn="l">
              <a:spcAft>
                <a:spcPts val="800"/>
              </a:spcAft>
              <a:defRPr sz="1700" b="0">
                <a:solidFill>
                  <a:srgbClr val="ADBED5"/>
                </a:solidFill>
                <a:latin typeface="Arial"/>
              </a:defRPr>
            </a:pPr>
            <a:r>
              <a:t>Checks pressure and credential requests.</a:t>
            </a:r>
          </a:p>
          <a:p>
            <a:pPr algn="l">
              <a:spcAft>
                <a:spcPts val="800"/>
              </a:spcAft>
              <a:defRPr sz="1700" b="0">
                <a:solidFill>
                  <a:srgbClr val="ADBED5"/>
                </a:solidFill>
                <a:latin typeface="Arial"/>
              </a:defRPr>
            </a:pPr>
            <a:r>
              <a:t>Shows excerpts and explanations.</a:t>
            </a:r>
          </a:p>
          <a:p>
            <a:pPr algn="l">
              <a:spcAft>
                <a:spcPts val="800"/>
              </a:spcAft>
              <a:defRPr sz="1700" b="0">
                <a:solidFill>
                  <a:srgbClr val="ADBED5"/>
                </a:solidFill>
                <a:latin typeface="Arial"/>
              </a:defRPr>
            </a:pPr>
            <a:r>
              <a:t>Recognizes common protective advice.</a:t>
            </a:r>
          </a:p>
        </p:txBody>
      </p:sp>
      <p:sp>
        <p:nvSpPr>
          <p:cNvPr id="17" name="TextBox 16"/>
          <p:cNvSpPr txBox="1"/>
          <p:nvPr/>
        </p:nvSpPr>
        <p:spPr>
          <a:xfrm>
            <a:off x="704088" y="5843016"/>
            <a:ext cx="10881360" cy="384048"/>
          </a:xfrm>
          <a:prstGeom prst="rect">
            <a:avLst/>
          </a:prstGeom>
          <a:noFill/>
        </p:spPr>
        <p:txBody>
          <a:bodyPr wrap="square" lIns="0" rIns="0" tIns="0" bIns="0">
            <a:spAutoFit/>
          </a:bodyPr>
          <a:lstStyle/>
          <a:p>
            <a:pPr algn="l">
              <a:spcAft>
                <a:spcPts val="800"/>
              </a:spcAft>
              <a:defRPr sz="1700" b="0">
                <a:solidFill>
                  <a:srgbClr val="FFD69D"/>
                </a:solidFill>
                <a:latin typeface="Arial"/>
              </a:defRPr>
            </a:pPr>
            <a:r>
              <a:t>“Send your OTP…” → Likely a scam     |     “Never share your OTP” → protective advice</a:t>
            </a:r>
          </a:p>
        </p:txBody>
      </p:sp>
    </p:spTree>
  </p:cSld>
  <p:clrMapOvr>
    <a:masterClrMapping/>
  </p:clrMapOvr>
  <p:transition spd="med"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426"/>
        </a:solidFill>
        <a:effectLst/>
      </p:bgPr>
    </p:bg>
    <p:spTree>
      <p:nvGrpSpPr>
        <p:cNvPr id="1" name=""/>
        <p:cNvGrpSpPr/>
        <p:nvPr/>
      </p:nvGrpSpPr>
      <p:grpSpPr/>
      <p:sp>
        <p:nvSpPr>
          <p:cNvPr id="2" name="TextBox 1"/>
          <p:cNvSpPr txBox="1"/>
          <p:nvPr/>
        </p:nvSpPr>
        <p:spPr>
          <a:xfrm>
            <a:off x="594360" y="402336"/>
            <a:ext cx="10972800" cy="274320"/>
          </a:xfrm>
          <a:prstGeom prst="rect">
            <a:avLst/>
          </a:prstGeom>
          <a:noFill/>
        </p:spPr>
        <p:txBody>
          <a:bodyPr wrap="square" lIns="0" rIns="0" tIns="0" bIns="0">
            <a:spAutoFit/>
          </a:bodyPr>
          <a:lstStyle/>
          <a:p>
            <a:pPr algn="l">
              <a:spcAft>
                <a:spcPts val="800"/>
              </a:spcAft>
              <a:defRPr sz="1100" b="1">
                <a:solidFill>
                  <a:srgbClr val="69E8DA"/>
                </a:solidFill>
                <a:latin typeface="Arial"/>
              </a:defRPr>
            </a:pPr>
            <a:r>
              <a:t>PEOPLE HELPING PEOPLE THROUGH SHARED REPORTS</a:t>
            </a:r>
          </a:p>
        </p:txBody>
      </p:sp>
      <p:sp>
        <p:nvSpPr>
          <p:cNvPr id="3" name="TextBox 2"/>
          <p:cNvSpPr txBox="1"/>
          <p:nvPr/>
        </p:nvSpPr>
        <p:spPr>
          <a:xfrm>
            <a:off x="594360" y="932688"/>
            <a:ext cx="10972800" cy="914400"/>
          </a:xfrm>
          <a:prstGeom prst="rect">
            <a:avLst/>
          </a:prstGeom>
          <a:noFill/>
        </p:spPr>
        <p:txBody>
          <a:bodyPr wrap="square" lIns="0" rIns="0" tIns="0" bIns="0">
            <a:spAutoFit/>
          </a:bodyPr>
          <a:lstStyle/>
          <a:p>
            <a:pPr algn="l">
              <a:spcAft>
                <a:spcPts val="800"/>
              </a:spcAft>
              <a:defRPr sz="3600" b="1">
                <a:solidFill>
                  <a:srgbClr val="F3F7FF"/>
                </a:solidFill>
                <a:latin typeface="Arial"/>
              </a:defRPr>
            </a:pPr>
            <a:r>
              <a:t>Community help center</a:t>
            </a:r>
          </a:p>
        </p:txBody>
      </p:sp>
      <p:cxnSp>
        <p:nvCxnSpPr>
          <p:cNvPr id="4" name="Connector 3"/>
          <p:cNvCxnSpPr/>
          <p:nvPr/>
        </p:nvCxnSpPr>
        <p:spPr>
          <a:xfrm>
            <a:off x="594360" y="6419088"/>
            <a:ext cx="10972800" cy="0"/>
          </a:xfrm>
          <a:prstGeom prst="line">
            <a:avLst/>
          </a:prstGeom>
          <a:ln w="15240">
            <a:solidFill>
              <a:srgbClr val="2A405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21792" y="6556248"/>
            <a:ext cx="8229600" cy="182880"/>
          </a:xfrm>
          <a:prstGeom prst="rect">
            <a:avLst/>
          </a:prstGeom>
          <a:noFill/>
        </p:spPr>
        <p:txBody>
          <a:bodyPr wrap="square" lIns="0" rIns="0" tIns="0" bIns="0">
            <a:spAutoFit/>
          </a:bodyPr>
          <a:lstStyle/>
          <a:p>
            <a:pPr algn="l">
              <a:spcAft>
                <a:spcPts val="800"/>
              </a:spcAft>
              <a:defRPr sz="1000" b="1">
                <a:solidFill>
                  <a:srgbClr val="ADBED5"/>
                </a:solidFill>
                <a:latin typeface="Arial"/>
              </a:defRPr>
            </a:pPr>
            <a:r>
              <a:t>ECHOGUARD  /  UNCLONE AI</a:t>
            </a:r>
          </a:p>
        </p:txBody>
      </p:sp>
      <p:sp>
        <p:nvSpPr>
          <p:cNvPr id="6" name="TextBox 5"/>
          <p:cNvSpPr txBox="1"/>
          <p:nvPr/>
        </p:nvSpPr>
        <p:spPr>
          <a:xfrm>
            <a:off x="10607040" y="6528816"/>
            <a:ext cx="960120" cy="228600"/>
          </a:xfrm>
          <a:prstGeom prst="rect">
            <a:avLst/>
          </a:prstGeom>
          <a:noFill/>
        </p:spPr>
        <p:txBody>
          <a:bodyPr wrap="square" lIns="0" rIns="0" tIns="0" bIns="0">
            <a:spAutoFit/>
          </a:bodyPr>
          <a:lstStyle/>
          <a:p>
            <a:pPr algn="r">
              <a:spcAft>
                <a:spcPts val="800"/>
              </a:spcAft>
              <a:defRPr sz="1100" b="1">
                <a:solidFill>
                  <a:srgbClr val="69E8DA"/>
                </a:solidFill>
                <a:latin typeface="Arial"/>
              </a:defRPr>
            </a:pPr>
            <a:r>
              <a:t>04 / 05</a:t>
            </a:r>
          </a:p>
        </p:txBody>
      </p:sp>
      <p:sp>
        <p:nvSpPr>
          <p:cNvPr id="7" name="Rounded Rectangle 6"/>
          <p:cNvSpPr/>
          <p:nvPr/>
        </p:nvSpPr>
        <p:spPr>
          <a:xfrm>
            <a:off x="612648" y="2148840"/>
            <a:ext cx="6949440" cy="978408"/>
          </a:xfrm>
          <a:prstGeom prst="roundRect">
            <a:avLst>
              <a:gd name="adj" fmla="val 12000"/>
            </a:avLst>
          </a:prstGeom>
          <a:solidFill>
            <a:srgbClr val="13243B"/>
          </a:solidFill>
          <a:ln>
            <a:solidFill>
              <a:srgbClr val="2A40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313432"/>
            <a:ext cx="6446520" cy="274320"/>
          </a:xfrm>
          <a:prstGeom prst="rect">
            <a:avLst/>
          </a:prstGeom>
          <a:noFill/>
        </p:spPr>
        <p:txBody>
          <a:bodyPr wrap="square" lIns="0" rIns="0" tIns="0" bIns="0">
            <a:spAutoFit/>
          </a:bodyPr>
          <a:lstStyle/>
          <a:p>
            <a:pPr algn="l">
              <a:spcAft>
                <a:spcPts val="800"/>
              </a:spcAft>
              <a:defRPr sz="1700" b="1">
                <a:solidFill>
                  <a:srgbClr val="69E8DA"/>
                </a:solidFill>
                <a:latin typeface="Arial"/>
              </a:defRPr>
            </a:pPr>
            <a:r>
              <a:t>SEARCH A NUMBER</a:t>
            </a:r>
          </a:p>
        </p:txBody>
      </p:sp>
      <p:sp>
        <p:nvSpPr>
          <p:cNvPr id="9" name="TextBox 8"/>
          <p:cNvSpPr txBox="1"/>
          <p:nvPr/>
        </p:nvSpPr>
        <p:spPr>
          <a:xfrm>
            <a:off x="841248" y="2688336"/>
            <a:ext cx="6446520" cy="365760"/>
          </a:xfrm>
          <a:prstGeom prst="rect">
            <a:avLst/>
          </a:prstGeom>
          <a:noFill/>
        </p:spPr>
        <p:txBody>
          <a:bodyPr wrap="square" lIns="0" rIns="0" tIns="0" bIns="0">
            <a:spAutoFit/>
          </a:bodyPr>
          <a:lstStyle/>
          <a:p>
            <a:pPr algn="l">
              <a:spcAft>
                <a:spcPts val="800"/>
              </a:spcAft>
              <a:defRPr sz="1600" b="0">
                <a:solidFill>
                  <a:srgbClr val="ADBED5"/>
                </a:solidFill>
                <a:latin typeface="Arial"/>
              </a:defRPr>
            </a:pPr>
            <a:r>
              <a:t>See report counts, categories and the latest report date.</a:t>
            </a:r>
          </a:p>
        </p:txBody>
      </p:sp>
      <p:sp>
        <p:nvSpPr>
          <p:cNvPr id="10" name="Rounded Rectangle 9"/>
          <p:cNvSpPr/>
          <p:nvPr/>
        </p:nvSpPr>
        <p:spPr>
          <a:xfrm>
            <a:off x="612648" y="3300984"/>
            <a:ext cx="6949440" cy="978408"/>
          </a:xfrm>
          <a:prstGeom prst="roundRect">
            <a:avLst>
              <a:gd name="adj" fmla="val 12000"/>
            </a:avLst>
          </a:prstGeom>
          <a:solidFill>
            <a:srgbClr val="13243B"/>
          </a:solidFill>
          <a:ln>
            <a:solidFill>
              <a:srgbClr val="2A40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3465576"/>
            <a:ext cx="6446520" cy="274320"/>
          </a:xfrm>
          <a:prstGeom prst="rect">
            <a:avLst/>
          </a:prstGeom>
          <a:noFill/>
        </p:spPr>
        <p:txBody>
          <a:bodyPr wrap="square" lIns="0" rIns="0" tIns="0" bIns="0">
            <a:spAutoFit/>
          </a:bodyPr>
          <a:lstStyle/>
          <a:p>
            <a:pPr algn="l">
              <a:spcAft>
                <a:spcPts val="800"/>
              </a:spcAft>
              <a:defRPr sz="1700" b="1">
                <a:solidFill>
                  <a:srgbClr val="BEAEFF"/>
                </a:solidFill>
                <a:latin typeface="Arial"/>
              </a:defRPr>
            </a:pPr>
            <a:r>
              <a:t>REPORT AN EXPERIENCE</a:t>
            </a:r>
          </a:p>
        </p:txBody>
      </p:sp>
      <p:sp>
        <p:nvSpPr>
          <p:cNvPr id="12" name="TextBox 11"/>
          <p:cNvSpPr txBox="1"/>
          <p:nvPr/>
        </p:nvSpPr>
        <p:spPr>
          <a:xfrm>
            <a:off x="841248" y="3840480"/>
            <a:ext cx="6446520" cy="365760"/>
          </a:xfrm>
          <a:prstGeom prst="rect">
            <a:avLst/>
          </a:prstGeom>
          <a:noFill/>
        </p:spPr>
        <p:txBody>
          <a:bodyPr wrap="square" lIns="0" rIns="0" tIns="0" bIns="0">
            <a:spAutoFit/>
          </a:bodyPr>
          <a:lstStyle/>
          <a:p>
            <a:pPr algn="l">
              <a:spcAft>
                <a:spcPts val="800"/>
              </a:spcAft>
              <a:defRPr sz="1600" b="0">
                <a:solidFill>
                  <a:srgbClr val="ADBED5"/>
                </a:solidFill>
                <a:latin typeface="Arial"/>
              </a:defRPr>
            </a:pPr>
            <a:r>
              <a:t>Choose a category; add an optional private description.</a:t>
            </a:r>
          </a:p>
        </p:txBody>
      </p:sp>
      <p:sp>
        <p:nvSpPr>
          <p:cNvPr id="13" name="Rounded Rectangle 12"/>
          <p:cNvSpPr/>
          <p:nvPr/>
        </p:nvSpPr>
        <p:spPr>
          <a:xfrm>
            <a:off x="612648" y="4453128"/>
            <a:ext cx="6949440" cy="978408"/>
          </a:xfrm>
          <a:prstGeom prst="roundRect">
            <a:avLst>
              <a:gd name="adj" fmla="val 12000"/>
            </a:avLst>
          </a:prstGeom>
          <a:solidFill>
            <a:srgbClr val="13243B"/>
          </a:solidFill>
          <a:ln>
            <a:solidFill>
              <a:srgbClr val="2A40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 y="4617720"/>
            <a:ext cx="6446520" cy="274320"/>
          </a:xfrm>
          <a:prstGeom prst="rect">
            <a:avLst/>
          </a:prstGeom>
          <a:noFill/>
        </p:spPr>
        <p:txBody>
          <a:bodyPr wrap="square" lIns="0" rIns="0" tIns="0" bIns="0">
            <a:spAutoFit/>
          </a:bodyPr>
          <a:lstStyle/>
          <a:p>
            <a:pPr algn="l">
              <a:spcAft>
                <a:spcPts val="800"/>
              </a:spcAft>
              <a:defRPr sz="1700" b="1">
                <a:solidFill>
                  <a:srgbClr val="FFD69D"/>
                </a:solidFill>
                <a:latin typeface="Arial"/>
              </a:defRPr>
            </a:pPr>
            <a:r>
              <a:t>FLAG A MISLEADING RESULT</a:t>
            </a:r>
          </a:p>
        </p:txBody>
      </p:sp>
      <p:sp>
        <p:nvSpPr>
          <p:cNvPr id="15" name="TextBox 14"/>
          <p:cNvSpPr txBox="1"/>
          <p:nvPr/>
        </p:nvSpPr>
        <p:spPr>
          <a:xfrm>
            <a:off x="841248" y="4992624"/>
            <a:ext cx="6446520" cy="365760"/>
          </a:xfrm>
          <a:prstGeom prst="rect">
            <a:avLst/>
          </a:prstGeom>
          <a:noFill/>
        </p:spPr>
        <p:txBody>
          <a:bodyPr wrap="square" lIns="0" rIns="0" tIns="0" bIns="0">
            <a:spAutoFit/>
          </a:bodyPr>
          <a:lstStyle/>
          <a:p>
            <a:pPr algn="l">
              <a:spcAft>
                <a:spcPts val="800"/>
              </a:spcAft>
              <a:defRPr sz="1600" b="0">
                <a:solidFill>
                  <a:srgbClr val="ADBED5"/>
                </a:solidFill>
                <a:latin typeface="Arial"/>
              </a:defRPr>
            </a:pPr>
            <a:r>
              <a:t>Request operator review of incorrect or harmful results.</a:t>
            </a:r>
          </a:p>
        </p:txBody>
      </p:sp>
      <p:sp>
        <p:nvSpPr>
          <p:cNvPr id="16" name="Rounded Rectangle 15"/>
          <p:cNvSpPr/>
          <p:nvPr/>
        </p:nvSpPr>
        <p:spPr>
          <a:xfrm>
            <a:off x="7863840" y="2148840"/>
            <a:ext cx="3712463" cy="3282696"/>
          </a:xfrm>
          <a:prstGeom prst="roundRect">
            <a:avLst>
              <a:gd name="adj" fmla="val 12000"/>
            </a:avLst>
          </a:prstGeom>
          <a:solidFill>
            <a:srgbClr val="13243B"/>
          </a:solidFill>
          <a:ln>
            <a:solidFill>
              <a:srgbClr val="2A40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19872" y="2432304"/>
            <a:ext cx="3200400" cy="548640"/>
          </a:xfrm>
          <a:prstGeom prst="rect">
            <a:avLst/>
          </a:prstGeom>
          <a:noFill/>
        </p:spPr>
        <p:txBody>
          <a:bodyPr wrap="square" lIns="0" rIns="0" tIns="0" bIns="0">
            <a:spAutoFit/>
          </a:bodyPr>
          <a:lstStyle/>
          <a:p>
            <a:pPr algn="l">
              <a:spcAft>
                <a:spcPts val="800"/>
              </a:spcAft>
              <a:defRPr sz="2100" b="1">
                <a:solidFill>
                  <a:srgbClr val="69E8DA"/>
                </a:solidFill>
                <a:latin typeface="Arial"/>
              </a:defRPr>
            </a:pPr>
            <a:r>
              <a:t>REPORT RESPONSIBLY</a:t>
            </a:r>
          </a:p>
        </p:txBody>
      </p:sp>
      <p:sp>
        <p:nvSpPr>
          <p:cNvPr id="18" name="TextBox 17"/>
          <p:cNvSpPr txBox="1"/>
          <p:nvPr/>
        </p:nvSpPr>
        <p:spPr>
          <a:xfrm>
            <a:off x="8119872" y="3200400"/>
            <a:ext cx="3182112" cy="1993392"/>
          </a:xfrm>
          <a:prstGeom prst="rect">
            <a:avLst/>
          </a:prstGeom>
          <a:noFill/>
        </p:spPr>
        <p:txBody>
          <a:bodyPr wrap="square" lIns="0" rIns="0" tIns="0" bIns="0">
            <a:spAutoFit/>
          </a:bodyPr>
          <a:lstStyle/>
          <a:p>
            <a:pPr algn="l">
              <a:spcAft>
                <a:spcPts val="800"/>
              </a:spcAft>
              <a:defRPr sz="1800" b="0">
                <a:solidFill>
                  <a:srgbClr val="F3F7FF"/>
                </a:solidFill>
                <a:latin typeface="Arial"/>
              </a:defRPr>
            </a:pPr>
            <a:r>
              <a:t>Stored in PostgreSQL</a:t>
            </a:r>
          </a:p>
          <a:p>
            <a:pPr algn="l">
              <a:spcAft>
                <a:spcPts val="800"/>
              </a:spcAft>
              <a:defRPr sz="1800" b="0">
                <a:solidFill>
                  <a:srgbClr val="F3F7FF"/>
                </a:solidFill>
                <a:latin typeface="Arial"/>
              </a:defRPr>
            </a:pPr>
          </a:p>
          <a:p>
            <a:pPr algn="l">
              <a:spcAft>
                <a:spcPts val="800"/>
              </a:spcAft>
              <a:defRPr sz="1800" b="0">
                <a:solidFill>
                  <a:srgbClr val="F3F7FF"/>
                </a:solidFill>
                <a:latin typeface="Arial"/>
              </a:defRPr>
            </a:pPr>
            <a:r>
              <a:t>Duplicate handling</a:t>
            </a:r>
          </a:p>
          <a:p>
            <a:pPr algn="l">
              <a:spcAft>
                <a:spcPts val="800"/>
              </a:spcAft>
              <a:defRPr sz="1800" b="0">
                <a:solidFill>
                  <a:srgbClr val="F3F7FF"/>
                </a:solidFill>
                <a:latin typeface="Arial"/>
              </a:defRPr>
            </a:pPr>
            <a:r>
              <a:t>and submission limits</a:t>
            </a:r>
          </a:p>
          <a:p>
            <a:pPr algn="l">
              <a:spcAft>
                <a:spcPts val="800"/>
              </a:spcAft>
              <a:defRPr sz="1800" b="0">
                <a:solidFill>
                  <a:srgbClr val="F3F7FF"/>
                </a:solidFill>
                <a:latin typeface="Arial"/>
              </a:defRPr>
            </a:pPr>
          </a:p>
          <a:p>
            <a:pPr algn="l">
              <a:spcAft>
                <a:spcPts val="800"/>
              </a:spcAft>
              <a:defRPr sz="1800" b="0">
                <a:solidFill>
                  <a:srgbClr val="F3F7FF"/>
                </a:solidFill>
                <a:latin typeface="Arial"/>
              </a:defRPr>
            </a:pPr>
            <a:r>
              <a:t>No reporter names required</a:t>
            </a:r>
          </a:p>
        </p:txBody>
      </p:sp>
      <p:sp>
        <p:nvSpPr>
          <p:cNvPr id="19" name="TextBox 18"/>
          <p:cNvSpPr txBox="1"/>
          <p:nvPr/>
        </p:nvSpPr>
        <p:spPr>
          <a:xfrm>
            <a:off x="676656" y="5925312"/>
            <a:ext cx="10881360" cy="347472"/>
          </a:xfrm>
          <a:prstGeom prst="rect">
            <a:avLst/>
          </a:prstGeom>
          <a:noFill/>
        </p:spPr>
        <p:txBody>
          <a:bodyPr wrap="square" lIns="0" rIns="0" tIns="0" bIns="0">
            <a:spAutoFit/>
          </a:bodyPr>
          <a:lstStyle/>
          <a:p>
            <a:pPr algn="l">
              <a:spcAft>
                <a:spcPts val="800"/>
              </a:spcAft>
              <a:defRPr sz="1600" b="0">
                <a:solidFill>
                  <a:srgbClr val="FFD69D"/>
                </a:solidFill>
                <a:latin typeface="Arial"/>
              </a:defRPr>
            </a:pPr>
            <a:r>
              <a:t>Community submissions are unverified. Reports are not proof that someone is a scammer.</a:t>
            </a:r>
          </a:p>
        </p:txBody>
      </p:sp>
    </p:spTree>
  </p:cSld>
  <p:clrMapOvr>
    <a:masterClrMapping/>
  </p:clrMapOvr>
  <p:transition spd="med"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426"/>
        </a:solidFill>
        <a:effectLst/>
      </p:bgPr>
    </p:bg>
    <p:spTree>
      <p:nvGrpSpPr>
        <p:cNvPr id="1" name=""/>
        <p:cNvGrpSpPr/>
        <p:nvPr/>
      </p:nvGrpSpPr>
      <p:grpSpPr/>
      <p:sp>
        <p:nvSpPr>
          <p:cNvPr id="2" name="TextBox 1"/>
          <p:cNvSpPr txBox="1"/>
          <p:nvPr/>
        </p:nvSpPr>
        <p:spPr>
          <a:xfrm>
            <a:off x="594360" y="402336"/>
            <a:ext cx="10972800" cy="274320"/>
          </a:xfrm>
          <a:prstGeom prst="rect">
            <a:avLst/>
          </a:prstGeom>
          <a:noFill/>
        </p:spPr>
        <p:txBody>
          <a:bodyPr wrap="square" lIns="0" rIns="0" tIns="0" bIns="0">
            <a:spAutoFit/>
          </a:bodyPr>
          <a:lstStyle/>
          <a:p>
            <a:pPr algn="l">
              <a:spcAft>
                <a:spcPts val="800"/>
              </a:spcAft>
              <a:defRPr sz="1100" b="1">
                <a:solidFill>
                  <a:srgbClr val="69E8DA"/>
                </a:solidFill>
                <a:latin typeface="Arial"/>
              </a:defRPr>
            </a:pPr>
            <a:r>
              <a:t>PLANNED IMPROVEMENTS — NOT CURRENT FEATURES</a:t>
            </a:r>
          </a:p>
        </p:txBody>
      </p:sp>
      <p:sp>
        <p:nvSpPr>
          <p:cNvPr id="3" name="TextBox 2"/>
          <p:cNvSpPr txBox="1"/>
          <p:nvPr/>
        </p:nvSpPr>
        <p:spPr>
          <a:xfrm>
            <a:off x="594360" y="932688"/>
            <a:ext cx="10972800" cy="914400"/>
          </a:xfrm>
          <a:prstGeom prst="rect">
            <a:avLst/>
          </a:prstGeom>
          <a:noFill/>
        </p:spPr>
        <p:txBody>
          <a:bodyPr wrap="square" lIns="0" rIns="0" tIns="0" bIns="0">
            <a:spAutoFit/>
          </a:bodyPr>
          <a:lstStyle/>
          <a:p>
            <a:pPr algn="l">
              <a:spcAft>
                <a:spcPts val="800"/>
              </a:spcAft>
              <a:defRPr sz="3600" b="1">
                <a:solidFill>
                  <a:srgbClr val="F3F7FF"/>
                </a:solidFill>
                <a:latin typeface="Arial"/>
              </a:defRPr>
            </a:pPr>
            <a:r>
              <a:t>Goals for Day 2</a:t>
            </a:r>
          </a:p>
        </p:txBody>
      </p:sp>
      <p:cxnSp>
        <p:nvCxnSpPr>
          <p:cNvPr id="4" name="Connector 3"/>
          <p:cNvCxnSpPr/>
          <p:nvPr/>
        </p:nvCxnSpPr>
        <p:spPr>
          <a:xfrm>
            <a:off x="594360" y="6419088"/>
            <a:ext cx="10972800" cy="0"/>
          </a:xfrm>
          <a:prstGeom prst="line">
            <a:avLst/>
          </a:prstGeom>
          <a:ln w="15240">
            <a:solidFill>
              <a:srgbClr val="2A405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21792" y="6556248"/>
            <a:ext cx="8229600" cy="182880"/>
          </a:xfrm>
          <a:prstGeom prst="rect">
            <a:avLst/>
          </a:prstGeom>
          <a:noFill/>
        </p:spPr>
        <p:txBody>
          <a:bodyPr wrap="square" lIns="0" rIns="0" tIns="0" bIns="0">
            <a:spAutoFit/>
          </a:bodyPr>
          <a:lstStyle/>
          <a:p>
            <a:pPr algn="l">
              <a:spcAft>
                <a:spcPts val="800"/>
              </a:spcAft>
              <a:defRPr sz="1000" b="1">
                <a:solidFill>
                  <a:srgbClr val="ADBED5"/>
                </a:solidFill>
                <a:latin typeface="Arial"/>
              </a:defRPr>
            </a:pPr>
            <a:r>
              <a:t>ECHOGUARD  /  UNCLONE AI</a:t>
            </a:r>
          </a:p>
        </p:txBody>
      </p:sp>
      <p:sp>
        <p:nvSpPr>
          <p:cNvPr id="6" name="TextBox 5"/>
          <p:cNvSpPr txBox="1"/>
          <p:nvPr/>
        </p:nvSpPr>
        <p:spPr>
          <a:xfrm>
            <a:off x="10607040" y="6528816"/>
            <a:ext cx="960120" cy="228600"/>
          </a:xfrm>
          <a:prstGeom prst="rect">
            <a:avLst/>
          </a:prstGeom>
          <a:noFill/>
        </p:spPr>
        <p:txBody>
          <a:bodyPr wrap="square" lIns="0" rIns="0" tIns="0" bIns="0">
            <a:spAutoFit/>
          </a:bodyPr>
          <a:lstStyle/>
          <a:p>
            <a:pPr algn="r">
              <a:spcAft>
                <a:spcPts val="800"/>
              </a:spcAft>
              <a:defRPr sz="1100" b="1">
                <a:solidFill>
                  <a:srgbClr val="69E8DA"/>
                </a:solidFill>
                <a:latin typeface="Arial"/>
              </a:defRPr>
            </a:pPr>
            <a:r>
              <a:t>05 / 05</a:t>
            </a:r>
          </a:p>
        </p:txBody>
      </p:sp>
      <p:sp>
        <p:nvSpPr>
          <p:cNvPr id="7" name="TextBox 6"/>
          <p:cNvSpPr txBox="1"/>
          <p:nvPr/>
        </p:nvSpPr>
        <p:spPr>
          <a:xfrm>
            <a:off x="658368" y="1965960"/>
            <a:ext cx="10972800" cy="685800"/>
          </a:xfrm>
          <a:prstGeom prst="rect">
            <a:avLst/>
          </a:prstGeom>
          <a:noFill/>
        </p:spPr>
        <p:txBody>
          <a:bodyPr wrap="square" lIns="0" rIns="0" tIns="0" bIns="0">
            <a:spAutoFit/>
          </a:bodyPr>
          <a:lstStyle/>
          <a:p>
            <a:pPr algn="l">
              <a:spcAft>
                <a:spcPts val="800"/>
              </a:spcAft>
              <a:defRPr sz="2800" b="1">
                <a:solidFill>
                  <a:srgbClr val="F3F7FF"/>
                </a:solidFill>
                <a:latin typeface="Arial"/>
              </a:defRPr>
            </a:pPr>
            <a:r>
              <a:t>From a recording to an explained scam assessment.</a:t>
            </a:r>
          </a:p>
        </p:txBody>
      </p:sp>
      <p:sp>
        <p:nvSpPr>
          <p:cNvPr id="8" name="Rounded Rectangle 7"/>
          <p:cNvSpPr/>
          <p:nvPr/>
        </p:nvSpPr>
        <p:spPr>
          <a:xfrm>
            <a:off x="612648" y="2889504"/>
            <a:ext cx="3474720" cy="2148840"/>
          </a:xfrm>
          <a:prstGeom prst="roundRect">
            <a:avLst>
              <a:gd name="adj" fmla="val 12000"/>
            </a:avLst>
          </a:prstGeom>
          <a:solidFill>
            <a:srgbClr val="13243B"/>
          </a:solidFill>
          <a:ln>
            <a:solidFill>
              <a:srgbClr val="2A40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3108960"/>
            <a:ext cx="3017520" cy="402336"/>
          </a:xfrm>
          <a:prstGeom prst="rect">
            <a:avLst/>
          </a:prstGeom>
          <a:noFill/>
        </p:spPr>
        <p:txBody>
          <a:bodyPr wrap="square" lIns="0" rIns="0" tIns="0" bIns="0">
            <a:spAutoFit/>
          </a:bodyPr>
          <a:lstStyle/>
          <a:p>
            <a:pPr algn="l">
              <a:spcAft>
                <a:spcPts val="800"/>
              </a:spcAft>
              <a:defRPr sz="2500" b="1">
                <a:solidFill>
                  <a:srgbClr val="69E8DA"/>
                </a:solidFill>
                <a:latin typeface="Arial"/>
              </a:defRPr>
            </a:pPr>
            <a:r>
              <a:t>01</a:t>
            </a:r>
          </a:p>
        </p:txBody>
      </p:sp>
      <p:sp>
        <p:nvSpPr>
          <p:cNvPr id="10" name="TextBox 9"/>
          <p:cNvSpPr txBox="1"/>
          <p:nvPr/>
        </p:nvSpPr>
        <p:spPr>
          <a:xfrm>
            <a:off x="822960" y="3685032"/>
            <a:ext cx="3044952" cy="329184"/>
          </a:xfrm>
          <a:prstGeom prst="rect">
            <a:avLst/>
          </a:prstGeom>
          <a:noFill/>
        </p:spPr>
        <p:txBody>
          <a:bodyPr wrap="square" lIns="0" rIns="0" tIns="0" bIns="0">
            <a:spAutoFit/>
          </a:bodyPr>
          <a:lstStyle/>
          <a:p>
            <a:pPr algn="l">
              <a:spcAft>
                <a:spcPts val="800"/>
              </a:spcAft>
              <a:defRPr sz="1700" b="1">
                <a:solidFill>
                  <a:srgbClr val="F3F7FF"/>
                </a:solidFill>
                <a:latin typeface="Arial"/>
              </a:defRPr>
            </a:pPr>
            <a:r>
              <a:t>AUDIO TO TEXT</a:t>
            </a:r>
          </a:p>
        </p:txBody>
      </p:sp>
      <p:sp>
        <p:nvSpPr>
          <p:cNvPr id="11" name="TextBox 10"/>
          <p:cNvSpPr txBox="1"/>
          <p:nvPr/>
        </p:nvSpPr>
        <p:spPr>
          <a:xfrm>
            <a:off x="822960" y="4251960"/>
            <a:ext cx="3044952" cy="612648"/>
          </a:xfrm>
          <a:prstGeom prst="rect">
            <a:avLst/>
          </a:prstGeom>
          <a:noFill/>
        </p:spPr>
        <p:txBody>
          <a:bodyPr wrap="square" lIns="0" rIns="0" tIns="0" bIns="0">
            <a:spAutoFit/>
          </a:bodyPr>
          <a:lstStyle/>
          <a:p>
            <a:pPr algn="l">
              <a:spcAft>
                <a:spcPts val="800"/>
              </a:spcAft>
              <a:defRPr sz="1600" b="0">
                <a:solidFill>
                  <a:srgbClr val="ADBED5"/>
                </a:solidFill>
                <a:latin typeface="Arial"/>
              </a:defRPr>
            </a:pPr>
            <a:r>
              <a:t>Automatically convert the</a:t>
            </a:r>
          </a:p>
          <a:p>
            <a:pPr algn="l">
              <a:spcAft>
                <a:spcPts val="800"/>
              </a:spcAft>
              <a:defRPr sz="1600" b="0">
                <a:solidFill>
                  <a:srgbClr val="ADBED5"/>
                </a:solidFill>
                <a:latin typeface="Arial"/>
              </a:defRPr>
            </a:pPr>
            <a:r>
              <a:t>recording into a transcript.</a:t>
            </a:r>
          </a:p>
        </p:txBody>
      </p:sp>
      <p:sp>
        <p:nvSpPr>
          <p:cNvPr id="12" name="Rounded Rectangle 11"/>
          <p:cNvSpPr/>
          <p:nvPr/>
        </p:nvSpPr>
        <p:spPr>
          <a:xfrm>
            <a:off x="4361688" y="2889504"/>
            <a:ext cx="3474720" cy="2148840"/>
          </a:xfrm>
          <a:prstGeom prst="roundRect">
            <a:avLst>
              <a:gd name="adj" fmla="val 12000"/>
            </a:avLst>
          </a:prstGeom>
          <a:solidFill>
            <a:srgbClr val="13243B"/>
          </a:solidFill>
          <a:ln>
            <a:solidFill>
              <a:srgbClr val="2A40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3108960"/>
            <a:ext cx="3017520" cy="402336"/>
          </a:xfrm>
          <a:prstGeom prst="rect">
            <a:avLst/>
          </a:prstGeom>
          <a:noFill/>
        </p:spPr>
        <p:txBody>
          <a:bodyPr wrap="square" lIns="0" rIns="0" tIns="0" bIns="0">
            <a:spAutoFit/>
          </a:bodyPr>
          <a:lstStyle/>
          <a:p>
            <a:pPr algn="l">
              <a:spcAft>
                <a:spcPts val="800"/>
              </a:spcAft>
              <a:defRPr sz="2500" b="1">
                <a:solidFill>
                  <a:srgbClr val="BEAEFF"/>
                </a:solidFill>
                <a:latin typeface="Arial"/>
              </a:defRPr>
            </a:pPr>
            <a:r>
              <a:t>02</a:t>
            </a:r>
          </a:p>
        </p:txBody>
      </p:sp>
      <p:sp>
        <p:nvSpPr>
          <p:cNvPr id="14" name="TextBox 13"/>
          <p:cNvSpPr txBox="1"/>
          <p:nvPr/>
        </p:nvSpPr>
        <p:spPr>
          <a:xfrm>
            <a:off x="4572000" y="3685032"/>
            <a:ext cx="3044952" cy="329184"/>
          </a:xfrm>
          <a:prstGeom prst="rect">
            <a:avLst/>
          </a:prstGeom>
          <a:noFill/>
        </p:spPr>
        <p:txBody>
          <a:bodyPr wrap="square" lIns="0" rIns="0" tIns="0" bIns="0">
            <a:spAutoFit/>
          </a:bodyPr>
          <a:lstStyle/>
          <a:p>
            <a:pPr algn="l">
              <a:spcAft>
                <a:spcPts val="800"/>
              </a:spcAft>
              <a:defRPr sz="1700" b="1">
                <a:solidFill>
                  <a:srgbClr val="F3F7FF"/>
                </a:solidFill>
                <a:latin typeface="Arial"/>
              </a:defRPr>
            </a:pPr>
            <a:r>
              <a:t>TEXT ANALYSIS</a:t>
            </a:r>
          </a:p>
        </p:txBody>
      </p:sp>
      <p:sp>
        <p:nvSpPr>
          <p:cNvPr id="15" name="TextBox 14"/>
          <p:cNvSpPr txBox="1"/>
          <p:nvPr/>
        </p:nvSpPr>
        <p:spPr>
          <a:xfrm>
            <a:off x="4572000" y="4251960"/>
            <a:ext cx="3044952" cy="612648"/>
          </a:xfrm>
          <a:prstGeom prst="rect">
            <a:avLst/>
          </a:prstGeom>
          <a:noFill/>
        </p:spPr>
        <p:txBody>
          <a:bodyPr wrap="square" lIns="0" rIns="0" tIns="0" bIns="0">
            <a:spAutoFit/>
          </a:bodyPr>
          <a:lstStyle/>
          <a:p>
            <a:pPr algn="l">
              <a:spcAft>
                <a:spcPts val="800"/>
              </a:spcAft>
              <a:defRPr sz="1600" b="0">
                <a:solidFill>
                  <a:srgbClr val="ADBED5"/>
                </a:solidFill>
                <a:latin typeface="Arial"/>
              </a:defRPr>
            </a:pPr>
            <a:r>
              <a:t>Check the transcript for</a:t>
            </a:r>
          </a:p>
          <a:p>
            <a:pPr algn="l">
              <a:spcAft>
                <a:spcPts val="800"/>
              </a:spcAft>
              <a:defRPr sz="1600" b="0">
                <a:solidFill>
                  <a:srgbClr val="ADBED5"/>
                </a:solidFill>
                <a:latin typeface="Arial"/>
              </a:defRPr>
            </a:pPr>
            <a:r>
              <a:t>scam warning signs.</a:t>
            </a:r>
          </a:p>
        </p:txBody>
      </p:sp>
      <p:sp>
        <p:nvSpPr>
          <p:cNvPr id="16" name="Rounded Rectangle 15"/>
          <p:cNvSpPr/>
          <p:nvPr/>
        </p:nvSpPr>
        <p:spPr>
          <a:xfrm>
            <a:off x="8110727" y="2889504"/>
            <a:ext cx="3474720" cy="2148840"/>
          </a:xfrm>
          <a:prstGeom prst="roundRect">
            <a:avLst>
              <a:gd name="adj" fmla="val 12000"/>
            </a:avLst>
          </a:prstGeom>
          <a:solidFill>
            <a:srgbClr val="13243B"/>
          </a:solidFill>
          <a:ln>
            <a:solidFill>
              <a:srgbClr val="2A40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40" y="3108960"/>
            <a:ext cx="3017520" cy="402336"/>
          </a:xfrm>
          <a:prstGeom prst="rect">
            <a:avLst/>
          </a:prstGeom>
          <a:noFill/>
        </p:spPr>
        <p:txBody>
          <a:bodyPr wrap="square" lIns="0" rIns="0" tIns="0" bIns="0">
            <a:spAutoFit/>
          </a:bodyPr>
          <a:lstStyle/>
          <a:p>
            <a:pPr algn="l">
              <a:spcAft>
                <a:spcPts val="800"/>
              </a:spcAft>
              <a:defRPr sz="2500" b="1">
                <a:solidFill>
                  <a:srgbClr val="FFD69D"/>
                </a:solidFill>
                <a:latin typeface="Arial"/>
              </a:defRPr>
            </a:pPr>
            <a:r>
              <a:t>03</a:t>
            </a:r>
          </a:p>
        </p:txBody>
      </p:sp>
      <p:sp>
        <p:nvSpPr>
          <p:cNvPr id="18" name="TextBox 17"/>
          <p:cNvSpPr txBox="1"/>
          <p:nvPr/>
        </p:nvSpPr>
        <p:spPr>
          <a:xfrm>
            <a:off x="8321040" y="3685032"/>
            <a:ext cx="3044952" cy="329184"/>
          </a:xfrm>
          <a:prstGeom prst="rect">
            <a:avLst/>
          </a:prstGeom>
          <a:noFill/>
        </p:spPr>
        <p:txBody>
          <a:bodyPr wrap="square" lIns="0" rIns="0" tIns="0" bIns="0">
            <a:spAutoFit/>
          </a:bodyPr>
          <a:lstStyle/>
          <a:p>
            <a:pPr algn="l">
              <a:spcAft>
                <a:spcPts val="800"/>
              </a:spcAft>
              <a:defRPr sz="1700" b="1">
                <a:solidFill>
                  <a:srgbClr val="F3F7FF"/>
                </a:solidFill>
                <a:latin typeface="Arial"/>
              </a:defRPr>
            </a:pPr>
            <a:r>
              <a:t>FINAL ASSESSMENT</a:t>
            </a:r>
          </a:p>
        </p:txBody>
      </p:sp>
      <p:sp>
        <p:nvSpPr>
          <p:cNvPr id="19" name="TextBox 18"/>
          <p:cNvSpPr txBox="1"/>
          <p:nvPr/>
        </p:nvSpPr>
        <p:spPr>
          <a:xfrm>
            <a:off x="8321040" y="4251960"/>
            <a:ext cx="3044952" cy="612648"/>
          </a:xfrm>
          <a:prstGeom prst="rect">
            <a:avLst/>
          </a:prstGeom>
          <a:noFill/>
        </p:spPr>
        <p:txBody>
          <a:bodyPr wrap="square" lIns="0" rIns="0" tIns="0" bIns="0">
            <a:spAutoFit/>
          </a:bodyPr>
          <a:lstStyle/>
          <a:p>
            <a:pPr algn="l">
              <a:spcAft>
                <a:spcPts val="800"/>
              </a:spcAft>
              <a:defRPr sz="1600" b="0">
                <a:solidFill>
                  <a:srgbClr val="ADBED5"/>
                </a:solidFill>
                <a:latin typeface="Arial"/>
              </a:defRPr>
            </a:pPr>
            <a:r>
              <a:t>Get an explained qualitative</a:t>
            </a:r>
          </a:p>
          <a:p>
            <a:pPr algn="l">
              <a:spcAft>
                <a:spcPts val="800"/>
              </a:spcAft>
              <a:defRPr sz="1600" b="0">
                <a:solidFill>
                  <a:srgbClr val="ADBED5"/>
                </a:solidFill>
                <a:latin typeface="Arial"/>
              </a:defRPr>
            </a:pPr>
            <a:r>
              <a:t>scam assessment.</a:t>
            </a:r>
          </a:p>
        </p:txBody>
      </p:sp>
      <p:sp>
        <p:nvSpPr>
          <p:cNvPr id="20" name="TextBox 19"/>
          <p:cNvSpPr txBox="1"/>
          <p:nvPr/>
        </p:nvSpPr>
        <p:spPr>
          <a:xfrm>
            <a:off x="685800" y="5440680"/>
            <a:ext cx="10881360" cy="457200"/>
          </a:xfrm>
          <a:prstGeom prst="rect">
            <a:avLst/>
          </a:prstGeom>
          <a:noFill/>
        </p:spPr>
        <p:txBody>
          <a:bodyPr wrap="square" lIns="0" rIns="0" tIns="0" bIns="0">
            <a:spAutoFit/>
          </a:bodyPr>
          <a:lstStyle/>
          <a:p>
            <a:pPr algn="l">
              <a:spcAft>
                <a:spcPts val="800"/>
              </a:spcAft>
              <a:defRPr sz="1800" b="0">
                <a:solidFill>
                  <a:srgbClr val="ADBED5"/>
                </a:solidFill>
                <a:latin typeface="Arial"/>
              </a:defRPr>
            </a:pPr>
            <a:r>
              <a:t>Before enabling: evaluate transcription cost, consent, privacy and accuracy.</a:t>
            </a:r>
          </a:p>
        </p:txBody>
      </p:sp>
      <p:sp>
        <p:nvSpPr>
          <p:cNvPr id="21" name="TextBox 20"/>
          <p:cNvSpPr txBox="1"/>
          <p:nvPr/>
        </p:nvSpPr>
        <p:spPr>
          <a:xfrm>
            <a:off x="685800" y="5989320"/>
            <a:ext cx="10789920" cy="310896"/>
          </a:xfrm>
          <a:prstGeom prst="rect">
            <a:avLst/>
          </a:prstGeom>
          <a:noFill/>
        </p:spPr>
        <p:txBody>
          <a:bodyPr wrap="square" lIns="0" rIns="0" tIns="0" bIns="0">
            <a:spAutoFit/>
          </a:bodyPr>
          <a:lstStyle/>
          <a:p>
            <a:pPr algn="l">
              <a:spcAft>
                <a:spcPts val="800"/>
              </a:spcAft>
              <a:defRPr sz="2300" b="1">
                <a:solidFill>
                  <a:srgbClr val="69E8DA"/>
                </a:solidFill>
                <a:latin typeface="Arial"/>
              </a:defRPr>
            </a:pPr>
            <a:r>
              <a:t>Hear the voice. Uncover the risk.</a:t>
            </a:r>
          </a:p>
        </p:txBody>
      </p:sp>
    </p:spTree>
  </p:cSld>
  <p:clrMapOvr>
    <a:masterClrMapping/>
  </p:clrMapOvr>
  <p:transition spd="med"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EchoGuard — Day 1 presentation and Day 2 goals</dc:title>
  <dc:subject/>
  <dc:creator>EchoGuard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