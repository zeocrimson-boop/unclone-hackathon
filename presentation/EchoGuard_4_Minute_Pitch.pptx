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00:00–00:15 | 15 seconds</a:t>
            </a:r>
          </a:p>
          <a:p/>
          <a:p>
            <a:r>
              <a:t>Imagine hearing a familiar voice asking for money. Would you trust the voice, the message, or neither? EchoGuard helps you pause and investigate. Our promise is simple: hear the voice, uncover the risk.</a:t>
            </a:r>
          </a:p>
          <a:p/>
          <a:p>
            <a:r>
              <a:t>PRESENTATION CUE: Pause after the opening question. Click once to move to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00:15–00:45 | 30 seconds</a:t>
            </a:r>
          </a:p>
          <a:p/>
          <a:p>
            <a:r>
              <a:t>Scams are bigger than fake voices. A caller may sound convincing, create urgency, and then ask for money or an authentication code. Students face internship fees; others face banking or investment scams. A natural voice can still deliver a harmful request. We need to examine the voice, the demand, and community context separately.</a:t>
            </a:r>
          </a:p>
          <a:p/>
          <a:p>
            <a:r>
              <a:t>PRESENTATION CUE: Read only one of the three short quotes aloud. Emphasize “separately.”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00:45–01:10 | 25 seconds</a:t>
            </a:r>
          </a:p>
          <a:p/>
          <a:p>
            <a:r>
              <a:t>This is the actual EchoGuard interface. Upload an authorized recording, paste a message or manually obtained transcript, or search a phone number. These are independent workflows. We do not automatically transcribe audio or combine results into a scam percentage. Each feature explains what its evidence can and cannot tell us.</a:t>
            </a:r>
          </a:p>
          <a:p/>
          <a:p>
            <a:r>
              <a:t>PRESENTATION CUE: Point briefly to the three feature labels, then to the real interface image.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01:10–01:50 | 40 seconds</a:t>
            </a:r>
          </a:p>
          <a:p/>
          <a:p>
            <a:r>
              <a:t>Consider this message: pay nine hundred and ninety-nine rupees today to secure an internship, or the offer expires. EchoGuard flags the payment demand and pressure, with the actual text as evidence. We also fixed a logic gap: guaranteed investment profits previously returned a low assessment because no rule matched. The expanded engine covers broader scam categories and distinguishes common safety advice and incomplete inputs. This is an explainable rule-based assessment, not a trained AI model or proof of fraud.</a:t>
            </a:r>
          </a:p>
          <a:p/>
          <a:p>
            <a:r>
              <a:t>PRESENTATION CUE: Use this as the main demonstration. The screenshot is a real local result, not a mocked provider response.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01:50–02:20 | 30 seconds</a:t>
            </a:r>
          </a:p>
          <a:p/>
          <a:p>
            <a:r>
              <a:t>The voice adapter sends recordings to the official DetectifAI endpoint. We verified its authentication, upload format and response schema. The interface preserves real, fake and not-sure outcomes without turning them into a scam verdict. Keys stay on the server, and EchoGuard does not permanently store recordings. A real account detection test still needs a configured key and credits.</a:t>
            </a:r>
          </a:p>
          <a:p/>
          <a:p>
            <a:r>
              <a:t>PRESENTATION CUE: These are possible documented outcomes, not claims of live detection results. State the credential limitation once, clearly.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02:20–02:55 | 35 seconds</a:t>
            </a:r>
          </a:p>
          <a:p/>
          <a:p>
            <a:r>
              <a:t>Users can search a number or report an experience without providing their name. Search shows category totals and the latest report date; descriptions stay private. PostgreSQL preserves reports across application restarts. Duplicate handling and persistent limits reduce abuse. Reporting passed a real local database test; a hosted database still needs configuration. These are unverified submissions: counts do not identify a scammer, and no reports does not mean safe.</a:t>
            </a:r>
          </a:p>
          <a:p/>
          <a:p>
            <a:r>
              <a:t>PRESENTATION CUE: Avoid inventing sample counts. Emphasize persistence and the unverified-report notice.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02:55–03:30 | 35 seconds</a:t>
            </a:r>
          </a:p>
          <a:p/>
          <a:p>
            <a:r>
              <a:t>Our architecture connects the browser to an Express API, local text rules, DetectifAI and PostgreSQL. Inputs are validated, and service errors never become safe assessments or empty searches. Seventy-six automated tests passed, plus browser and automated accessibility checks. Database tests verified duplicates, aggregation, rate limits and persistence after an application restart. These checks demonstrate implemented behavior, not detection accuracy. Live provider and hosted database setup remain.</a:t>
            </a:r>
          </a:p>
          <a:p/>
          <a:p>
            <a:r>
              <a:t>PRESENTATION CUE: Point to the architecture first, then the verified-versus-next distinction. Do not call the project fully production-ready.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 TIME: 03:30–04:00 | 30 seconds</a:t>
            </a:r>
          </a:p>
          <a:p/>
          <a:p>
            <a:r>
              <a:t>EchoGuard turns a rushed reaction into an informed pause. Users get three evidence trails: voice authenticity, text warnings and community-reported activity. Text analysis already works independently. Next, we will configure live services, verify real requests and pilot responsibly. We cannot prove safety, but we can help people ask better questions before they trust, pay or share. Thank you.</a:t>
            </a:r>
          </a:p>
          <a:p/>
          <a:p>
            <a:r>
              <a:t>PRESENTATION CUE: End on the tagline. Leave this slide visible for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png"/>
          <p:cNvPicPr>
            <a:picLocks noChangeAspect="1"/>
          </p:cNvPicPr>
          <p:nvPr/>
        </p:nvPicPr>
        <p:blipFill>
          <a:blip r:embed="rId2"/>
          <a:stretch>
            <a:fillRect/>
          </a:stretch>
        </p:blipFill>
        <p:spPr>
          <a:xfrm>
            <a:off x="0" y="0"/>
            <a:ext cx="12191695" cy="6858000"/>
          </a:xfrm>
          <a:prstGeom prst="rect">
            <a:avLst/>
          </a:prstGeom>
        </p:spPr>
      </p:pic>
      <p:cxnSp>
        <p:nvCxnSpPr>
          <p:cNvPr id="3" name="Connector 2"/>
          <p:cNvCxnSpPr/>
          <p:nvPr/>
        </p:nvCxnSpPr>
        <p:spPr>
          <a:xfrm>
            <a:off x="594360" y="6428232"/>
            <a:ext cx="11000232" cy="0"/>
          </a:xfrm>
          <a:prstGeom prst="line">
            <a:avLst/>
          </a:prstGeom>
          <a:ln w="7620">
            <a:solidFill>
              <a:srgbClr val="293A53"/>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12648" y="6547104"/>
            <a:ext cx="5486400" cy="164592"/>
          </a:xfrm>
          <a:prstGeom prst="rect">
            <a:avLst/>
          </a:prstGeom>
          <a:noFill/>
        </p:spPr>
        <p:txBody>
          <a:bodyPr wrap="square" lIns="0" rIns="0" tIns="0" bIns="0">
            <a:spAutoFit/>
          </a:bodyPr>
          <a:lstStyle/>
          <a:p>
            <a:pPr algn="l">
              <a:spcAft>
                <a:spcPts val="800"/>
              </a:spcAft>
              <a:defRPr sz="900" b="1">
                <a:solidFill>
                  <a:srgbClr val="A9B8CE"/>
                </a:solidFill>
                <a:latin typeface="Arial"/>
              </a:defRPr>
            </a:pPr>
            <a:r>
              <a:t>ECHOGUARD  /  UNCLONE AI</a:t>
            </a:r>
          </a:p>
        </p:txBody>
      </p:sp>
      <p:sp>
        <p:nvSpPr>
          <p:cNvPr id="5" name="TextBox 4"/>
          <p:cNvSpPr txBox="1"/>
          <p:nvPr/>
        </p:nvSpPr>
        <p:spPr>
          <a:xfrm>
            <a:off x="7772400" y="6547104"/>
            <a:ext cx="3291840" cy="182880"/>
          </a:xfrm>
          <a:prstGeom prst="rect">
            <a:avLst/>
          </a:prstGeom>
          <a:noFill/>
        </p:spPr>
        <p:txBody>
          <a:bodyPr wrap="square" lIns="0" rIns="0" tIns="0" bIns="0">
            <a:spAutoFit/>
          </a:bodyPr>
          <a:lstStyle/>
          <a:p>
            <a:pPr algn="r">
              <a:spcAft>
                <a:spcPts val="800"/>
              </a:spcAft>
              <a:defRPr sz="900" b="0">
                <a:solidFill>
                  <a:srgbClr val="A9B8CE"/>
                </a:solidFill>
                <a:latin typeface="Arial"/>
              </a:defRPr>
            </a:pPr>
            <a:r>
              <a:t>HEAR THE VOICE. UNCOVER THE RISK.</a:t>
            </a:r>
          </a:p>
        </p:txBody>
      </p:sp>
      <p:sp>
        <p:nvSpPr>
          <p:cNvPr id="6" name="TextBox 5"/>
          <p:cNvSpPr txBox="1"/>
          <p:nvPr/>
        </p:nvSpPr>
        <p:spPr>
          <a:xfrm>
            <a:off x="11210544" y="6510528"/>
            <a:ext cx="365760" cy="219456"/>
          </a:xfrm>
          <a:prstGeom prst="rect">
            <a:avLst/>
          </a:prstGeom>
          <a:noFill/>
        </p:spPr>
        <p:txBody>
          <a:bodyPr wrap="square" lIns="0" rIns="0" tIns="0" bIns="0">
            <a:spAutoFit/>
          </a:bodyPr>
          <a:lstStyle/>
          <a:p>
            <a:pPr algn="r">
              <a:spcAft>
                <a:spcPts val="800"/>
              </a:spcAft>
              <a:defRPr sz="1200" b="1">
                <a:solidFill>
                  <a:srgbClr val="67EBDD"/>
                </a:solidFill>
                <a:latin typeface="Arial"/>
              </a:defRPr>
            </a:pPr>
            <a:r>
              <a:t>01</a:t>
            </a:r>
          </a:p>
        </p:txBody>
      </p:sp>
      <p:sp>
        <p:nvSpPr>
          <p:cNvPr id="7" name="Rounded Rectangle 6"/>
          <p:cNvSpPr/>
          <p:nvPr/>
        </p:nvSpPr>
        <p:spPr>
          <a:xfrm>
            <a:off x="640080" y="594360"/>
            <a:ext cx="3063240" cy="310896"/>
          </a:xfrm>
          <a:prstGeom prst="roundRect">
            <a:avLst>
              <a:gd name="adj" fmla="val 35000"/>
            </a:avLst>
          </a:prstGeom>
          <a:solidFill>
            <a:srgbClr val="111E32"/>
          </a:solidFill>
          <a:ln w="10160">
            <a:solidFill>
              <a:srgbClr val="293A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62940"/>
            <a:ext cx="2843784" cy="210312"/>
          </a:xfrm>
          <a:prstGeom prst="rect">
            <a:avLst/>
          </a:prstGeom>
          <a:noFill/>
        </p:spPr>
        <p:txBody>
          <a:bodyPr wrap="square" lIns="0" rIns="0" tIns="0" bIns="0">
            <a:spAutoFit/>
          </a:bodyPr>
          <a:lstStyle/>
          <a:p>
            <a:pPr algn="l">
              <a:spcAft>
                <a:spcPts val="800"/>
              </a:spcAft>
              <a:defRPr sz="1000" b="1">
                <a:solidFill>
                  <a:srgbClr val="67EBDD"/>
                </a:solidFill>
                <a:latin typeface="Arial"/>
              </a:defRPr>
            </a:pPr>
            <a:r>
              <a:t>UNCLONE AI  /  PRODUCT PITCH</a:t>
            </a:r>
          </a:p>
        </p:txBody>
      </p:sp>
      <p:sp>
        <p:nvSpPr>
          <p:cNvPr id="9" name="TextBox 8"/>
          <p:cNvSpPr txBox="1"/>
          <p:nvPr/>
        </p:nvSpPr>
        <p:spPr>
          <a:xfrm>
            <a:off x="640080" y="1508760"/>
            <a:ext cx="7315200" cy="1097280"/>
          </a:xfrm>
          <a:prstGeom prst="rect">
            <a:avLst/>
          </a:prstGeom>
          <a:noFill/>
        </p:spPr>
        <p:txBody>
          <a:bodyPr wrap="square" lIns="0" rIns="0" tIns="0" bIns="0">
            <a:spAutoFit/>
          </a:bodyPr>
          <a:lstStyle/>
          <a:p>
            <a:pPr algn="l">
              <a:spcAft>
                <a:spcPts val="800"/>
              </a:spcAft>
              <a:defRPr sz="6500" b="1">
                <a:solidFill>
                  <a:srgbClr val="F2F6FF"/>
                </a:solidFill>
                <a:latin typeface="Arial"/>
              </a:defRPr>
            </a:pPr>
            <a:r>
              <a:t>EchoGuard</a:t>
            </a:r>
          </a:p>
        </p:txBody>
      </p:sp>
      <p:sp>
        <p:nvSpPr>
          <p:cNvPr id="10" name="TextBox 9"/>
          <p:cNvSpPr txBox="1"/>
          <p:nvPr/>
        </p:nvSpPr>
        <p:spPr>
          <a:xfrm>
            <a:off x="685800" y="2761488"/>
            <a:ext cx="6949440" cy="1554480"/>
          </a:xfrm>
          <a:prstGeom prst="rect">
            <a:avLst/>
          </a:prstGeom>
          <a:noFill/>
        </p:spPr>
        <p:txBody>
          <a:bodyPr wrap="square" lIns="0" rIns="0" tIns="0" bIns="0">
            <a:spAutoFit/>
          </a:bodyPr>
          <a:lstStyle/>
          <a:p>
            <a:pPr algn="l">
              <a:spcAft>
                <a:spcPts val="800"/>
              </a:spcAft>
              <a:defRPr sz="3500" b="1">
                <a:solidFill>
                  <a:srgbClr val="67EBDD"/>
                </a:solidFill>
                <a:latin typeface="Arial"/>
              </a:defRPr>
            </a:pPr>
            <a:r>
              <a:t>Hear the voice.</a:t>
            </a:r>
          </a:p>
          <a:p>
            <a:pPr algn="l">
              <a:spcAft>
                <a:spcPts val="800"/>
              </a:spcAft>
              <a:defRPr sz="3500" b="1">
                <a:solidFill>
                  <a:srgbClr val="67EBDD"/>
                </a:solidFill>
                <a:latin typeface="Arial"/>
              </a:defRPr>
            </a:pPr>
            <a:r>
              <a:t>Uncover the risk.</a:t>
            </a:r>
          </a:p>
        </p:txBody>
      </p:sp>
      <p:sp>
        <p:nvSpPr>
          <p:cNvPr id="11" name="TextBox 10"/>
          <p:cNvSpPr txBox="1"/>
          <p:nvPr/>
        </p:nvSpPr>
        <p:spPr>
          <a:xfrm>
            <a:off x="713232" y="4709160"/>
            <a:ext cx="6629400" cy="804672"/>
          </a:xfrm>
          <a:prstGeom prst="rect">
            <a:avLst/>
          </a:prstGeom>
          <a:noFill/>
        </p:spPr>
        <p:txBody>
          <a:bodyPr wrap="square" lIns="0" rIns="0" tIns="0" bIns="0">
            <a:spAutoFit/>
          </a:bodyPr>
          <a:lstStyle/>
          <a:p>
            <a:pPr algn="l">
              <a:spcAft>
                <a:spcPts val="800"/>
              </a:spcAft>
              <a:defRPr sz="2000" b="0">
                <a:solidFill>
                  <a:srgbClr val="A9B8CE"/>
                </a:solidFill>
                <a:latin typeface="Arial"/>
              </a:defRPr>
            </a:pPr>
            <a:r>
              <a:t>Voice authenticity. Text warning signs.</a:t>
            </a:r>
          </a:p>
          <a:p>
            <a:pPr algn="l">
              <a:spcAft>
                <a:spcPts val="800"/>
              </a:spcAft>
              <a:defRPr sz="2000" b="0">
                <a:solidFill>
                  <a:srgbClr val="A9B8CE"/>
                </a:solidFill>
                <a:latin typeface="Arial"/>
              </a:defRPr>
            </a:pPr>
            <a:r>
              <a:t>Community-reported activity.</a:t>
            </a:r>
          </a:p>
        </p:txBody>
      </p:sp>
      <p:pic>
        <p:nvPicPr>
          <p:cNvPr id="12" name="Picture 11" descr="shield.png"/>
          <p:cNvPicPr>
            <a:picLocks noChangeAspect="1"/>
          </p:cNvPicPr>
          <p:nvPr/>
        </p:nvPicPr>
        <p:blipFill>
          <a:blip r:embed="rId3"/>
          <a:stretch>
            <a:fillRect/>
          </a:stretch>
        </p:blipFill>
        <p:spPr>
          <a:xfrm>
            <a:off x="8394192" y="1755648"/>
            <a:ext cx="2784764" cy="3063240"/>
          </a:xfrm>
          <a:prstGeom prst="rect">
            <a:avLst/>
          </a:prstGeom>
        </p:spPr>
      </p:pic>
      <p:cxnSp>
        <p:nvCxnSpPr>
          <p:cNvPr id="13" name="Connector 12"/>
          <p:cNvCxnSpPr/>
          <p:nvPr/>
        </p:nvCxnSpPr>
        <p:spPr>
          <a:xfrm>
            <a:off x="7479792" y="5111496"/>
            <a:ext cx="0" cy="292608"/>
          </a:xfrm>
          <a:prstGeom prst="line">
            <a:avLst/>
          </a:prstGeom>
          <a:ln w="20320">
            <a:solidFill>
              <a:srgbClr val="B9A6F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571231" y="5100674"/>
            <a:ext cx="0" cy="314251"/>
          </a:xfrm>
          <a:prstGeom prst="line">
            <a:avLst/>
          </a:prstGeom>
          <a:ln w="2032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7662671" y="5103371"/>
            <a:ext cx="0" cy="308857"/>
          </a:xfrm>
          <a:prstGeom prst="line">
            <a:avLst/>
          </a:prstGeom>
          <a:ln w="2032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754112" y="5096534"/>
            <a:ext cx="0" cy="322531"/>
          </a:xfrm>
          <a:prstGeom prst="line">
            <a:avLst/>
          </a:prstGeom>
          <a:ln w="20320">
            <a:solidFill>
              <a:srgbClr val="B9A6FF"/>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7845552" y="5085403"/>
            <a:ext cx="0" cy="344793"/>
          </a:xfrm>
          <a:prstGeom prst="line">
            <a:avLst/>
          </a:prstGeom>
          <a:ln w="2032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7936992" y="5103011"/>
            <a:ext cx="0" cy="309577"/>
          </a:xfrm>
          <a:prstGeom prst="line">
            <a:avLst/>
          </a:prstGeom>
          <a:ln w="2032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028431" y="5059763"/>
            <a:ext cx="0" cy="396073"/>
          </a:xfrm>
          <a:prstGeom prst="line">
            <a:avLst/>
          </a:prstGeom>
          <a:ln w="20320">
            <a:solidFill>
              <a:srgbClr val="B9A6F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119871" y="5090136"/>
            <a:ext cx="0" cy="335327"/>
          </a:xfrm>
          <a:prstGeom prst="line">
            <a:avLst/>
          </a:prstGeom>
          <a:ln w="2032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8211312" y="5041077"/>
            <a:ext cx="0" cy="433445"/>
          </a:xfrm>
          <a:prstGeom prst="line">
            <a:avLst/>
          </a:prstGeom>
          <a:ln w="2032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8302752" y="5030473"/>
            <a:ext cx="0" cy="454653"/>
          </a:xfrm>
          <a:prstGeom prst="line">
            <a:avLst/>
          </a:prstGeom>
          <a:ln w="20320">
            <a:solidFill>
              <a:srgbClr val="B9A6FF"/>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394192" y="5056565"/>
            <a:ext cx="0" cy="402469"/>
          </a:xfrm>
          <a:prstGeom prst="line">
            <a:avLst/>
          </a:prstGeom>
          <a:ln w="2032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485632" y="4955484"/>
            <a:ext cx="0" cy="604631"/>
          </a:xfrm>
          <a:prstGeom prst="line">
            <a:avLst/>
          </a:prstGeom>
          <a:ln w="2032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577072" y="5091231"/>
            <a:ext cx="0" cy="333137"/>
          </a:xfrm>
          <a:prstGeom prst="line">
            <a:avLst/>
          </a:prstGeom>
          <a:ln w="20320">
            <a:solidFill>
              <a:srgbClr val="B9A6F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8668512" y="4907048"/>
            <a:ext cx="0" cy="701503"/>
          </a:xfrm>
          <a:prstGeom prst="line">
            <a:avLst/>
          </a:prstGeom>
          <a:ln w="2032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759952" y="4958330"/>
            <a:ext cx="0" cy="598939"/>
          </a:xfrm>
          <a:prstGeom prst="line">
            <a:avLst/>
          </a:prstGeom>
          <a:ln w="2032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851392" y="4937913"/>
            <a:ext cx="0" cy="639773"/>
          </a:xfrm>
          <a:prstGeom prst="line">
            <a:avLst/>
          </a:prstGeom>
          <a:ln w="20320">
            <a:solidFill>
              <a:srgbClr val="B9A6F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942832" y="4815052"/>
            <a:ext cx="0" cy="885495"/>
          </a:xfrm>
          <a:prstGeom prst="line">
            <a:avLst/>
          </a:prstGeom>
          <a:ln w="2032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9034272" y="5073522"/>
            <a:ext cx="0" cy="368555"/>
          </a:xfrm>
          <a:prstGeom prst="line">
            <a:avLst/>
          </a:prstGeom>
          <a:ln w="2032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9125712" y="4739886"/>
            <a:ext cx="0" cy="1035827"/>
          </a:xfrm>
          <a:prstGeom prst="line">
            <a:avLst/>
          </a:prstGeom>
          <a:ln w="20320">
            <a:solidFill>
              <a:srgbClr val="B9A6F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217152" y="4944187"/>
            <a:ext cx="0" cy="627225"/>
          </a:xfrm>
          <a:prstGeom prst="line">
            <a:avLst/>
          </a:prstGeom>
          <a:ln w="2032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9308592" y="4794429"/>
            <a:ext cx="0" cy="926741"/>
          </a:xfrm>
          <a:prstGeom prst="line">
            <a:avLst/>
          </a:prstGeom>
          <a:ln w="2032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400032" y="4758863"/>
            <a:ext cx="0" cy="997873"/>
          </a:xfrm>
          <a:prstGeom prst="line">
            <a:avLst/>
          </a:prstGeom>
          <a:ln w="20320">
            <a:solidFill>
              <a:srgbClr val="B9A6F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491472" y="4973996"/>
            <a:ext cx="0" cy="567607"/>
          </a:xfrm>
          <a:prstGeom prst="line">
            <a:avLst/>
          </a:prstGeom>
          <a:ln w="2032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582912" y="4685906"/>
            <a:ext cx="0" cy="1143787"/>
          </a:xfrm>
          <a:prstGeom prst="line">
            <a:avLst/>
          </a:prstGeom>
          <a:ln w="2032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9674352" y="5022411"/>
            <a:ext cx="0" cy="470777"/>
          </a:xfrm>
          <a:prstGeom prst="line">
            <a:avLst/>
          </a:prstGeom>
          <a:ln w="20320">
            <a:solidFill>
              <a:srgbClr val="B9A6FF"/>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9765792" y="4758865"/>
            <a:ext cx="0" cy="997869"/>
          </a:xfrm>
          <a:prstGeom prst="line">
            <a:avLst/>
          </a:prstGeom>
          <a:ln w="2032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857232" y="4852770"/>
            <a:ext cx="0" cy="810059"/>
          </a:xfrm>
          <a:prstGeom prst="line">
            <a:avLst/>
          </a:prstGeom>
          <a:ln w="2032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948672" y="4931038"/>
            <a:ext cx="0" cy="653523"/>
          </a:xfrm>
          <a:prstGeom prst="line">
            <a:avLst/>
          </a:prstGeom>
          <a:ln w="20320">
            <a:solidFill>
              <a:srgbClr val="B9A6FF"/>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10040112" y="4804032"/>
            <a:ext cx="0" cy="907535"/>
          </a:xfrm>
          <a:prstGeom prst="line">
            <a:avLst/>
          </a:prstGeom>
          <a:ln w="2032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0131552" y="5111241"/>
            <a:ext cx="0" cy="293117"/>
          </a:xfrm>
          <a:prstGeom prst="line">
            <a:avLst/>
          </a:prstGeom>
          <a:ln w="2032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10222992" y="4867428"/>
            <a:ext cx="0" cy="780743"/>
          </a:xfrm>
          <a:prstGeom prst="line">
            <a:avLst/>
          </a:prstGeom>
          <a:ln w="20320">
            <a:solidFill>
              <a:srgbClr val="B9A6FF"/>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10314432" y="4998230"/>
            <a:ext cx="0" cy="519139"/>
          </a:xfrm>
          <a:prstGeom prst="line">
            <a:avLst/>
          </a:prstGeom>
          <a:ln w="2032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10405872" y="4982028"/>
            <a:ext cx="0" cy="551543"/>
          </a:xfrm>
          <a:prstGeom prst="line">
            <a:avLst/>
          </a:prstGeom>
          <a:ln w="2032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0497312" y="4971885"/>
            <a:ext cx="0" cy="571829"/>
          </a:xfrm>
          <a:prstGeom prst="line">
            <a:avLst/>
          </a:prstGeom>
          <a:ln w="20320">
            <a:solidFill>
              <a:srgbClr val="B9A6FF"/>
            </a:solidFill>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a:off x="10588752" y="5083259"/>
            <a:ext cx="0" cy="349081"/>
          </a:xfrm>
          <a:prstGeom prst="line">
            <a:avLst/>
          </a:prstGeom>
          <a:ln w="2032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10680192" y="5005315"/>
            <a:ext cx="0" cy="504969"/>
          </a:xfrm>
          <a:prstGeom prst="line">
            <a:avLst/>
          </a:prstGeom>
          <a:ln w="2032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10771632" y="5084423"/>
            <a:ext cx="0" cy="346753"/>
          </a:xfrm>
          <a:prstGeom prst="line">
            <a:avLst/>
          </a:prstGeom>
          <a:ln w="20320">
            <a:solidFill>
              <a:srgbClr val="B9A6FF"/>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10863072" y="5056051"/>
            <a:ext cx="0" cy="403497"/>
          </a:xfrm>
          <a:prstGeom prst="line">
            <a:avLst/>
          </a:prstGeom>
          <a:ln w="2032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a:off x="10954512" y="5072049"/>
            <a:ext cx="0" cy="371501"/>
          </a:xfrm>
          <a:prstGeom prst="line">
            <a:avLst/>
          </a:prstGeom>
          <a:ln w="2032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a:off x="11045952" y="5094892"/>
            <a:ext cx="0" cy="325815"/>
          </a:xfrm>
          <a:prstGeom prst="line">
            <a:avLst/>
          </a:prstGeom>
          <a:ln w="20320">
            <a:solidFill>
              <a:srgbClr val="B9A6FF"/>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a:off x="11137392" y="5082356"/>
            <a:ext cx="0" cy="350887"/>
          </a:xfrm>
          <a:prstGeom prst="line">
            <a:avLst/>
          </a:prstGeom>
          <a:ln w="2032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1228832" y="5109171"/>
            <a:ext cx="0" cy="297257"/>
          </a:xfrm>
          <a:prstGeom prst="line">
            <a:avLst/>
          </a:prstGeom>
          <a:ln w="2032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a:off x="11320272" y="5096848"/>
            <a:ext cx="0" cy="321903"/>
          </a:xfrm>
          <a:prstGeom prst="line">
            <a:avLst/>
          </a:prstGeom>
          <a:ln w="20320">
            <a:solidFill>
              <a:srgbClr val="B9A6FF"/>
            </a:solidFill>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a:off x="11411712" y="5104711"/>
            <a:ext cx="0" cy="306177"/>
          </a:xfrm>
          <a:prstGeom prst="line">
            <a:avLst/>
          </a:prstGeom>
          <a:ln w="2032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a:off x="11503152" y="5106723"/>
            <a:ext cx="0" cy="302153"/>
          </a:xfrm>
          <a:prstGeom prst="line">
            <a:avLst/>
          </a:prstGeom>
          <a:ln w="20320">
            <a:solidFill>
              <a:srgbClr val="67EBDD"/>
            </a:solidFill>
          </a:ln>
        </p:spPr>
        <p:style>
          <a:lnRef idx="2">
            <a:schemeClr val="accent1"/>
          </a:lnRef>
          <a:fillRef idx="0">
            <a:schemeClr val="accent1"/>
          </a:fillRef>
          <a:effectRef idx="1">
            <a:schemeClr val="accent1"/>
          </a:effectRef>
          <a:fontRef idx="minor">
            <a:schemeClr val="tx1"/>
          </a:fontRef>
        </p:style>
      </p:cxnSp>
    </p:spTree>
  </p:cSld>
  <p:clrMapOvr>
    <a:masterClrMapping/>
  </p:clrMapOvr>
  <p:transition spd="med" advClick="1">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png"/>
          <p:cNvPicPr>
            <a:picLocks noChangeAspect="1"/>
          </p:cNvPicPr>
          <p:nvPr/>
        </p:nvPicPr>
        <p:blipFill>
          <a:blip r:embed="rId2"/>
          <a:stretch>
            <a:fillRect/>
          </a:stretch>
        </p:blipFill>
        <p:spPr>
          <a:xfrm>
            <a:off x="0" y="0"/>
            <a:ext cx="12191695" cy="6858000"/>
          </a:xfrm>
          <a:prstGeom prst="rect">
            <a:avLst/>
          </a:prstGeom>
        </p:spPr>
      </p:pic>
      <p:cxnSp>
        <p:nvCxnSpPr>
          <p:cNvPr id="3" name="Connector 2"/>
          <p:cNvCxnSpPr/>
          <p:nvPr/>
        </p:nvCxnSpPr>
        <p:spPr>
          <a:xfrm>
            <a:off x="594360" y="6428232"/>
            <a:ext cx="11000232" cy="0"/>
          </a:xfrm>
          <a:prstGeom prst="line">
            <a:avLst/>
          </a:prstGeom>
          <a:ln w="7620">
            <a:solidFill>
              <a:srgbClr val="293A53"/>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12648" y="6547104"/>
            <a:ext cx="5486400" cy="164592"/>
          </a:xfrm>
          <a:prstGeom prst="rect">
            <a:avLst/>
          </a:prstGeom>
          <a:noFill/>
        </p:spPr>
        <p:txBody>
          <a:bodyPr wrap="square" lIns="0" rIns="0" tIns="0" bIns="0">
            <a:spAutoFit/>
          </a:bodyPr>
          <a:lstStyle/>
          <a:p>
            <a:pPr algn="l">
              <a:spcAft>
                <a:spcPts val="800"/>
              </a:spcAft>
              <a:defRPr sz="900" b="1">
                <a:solidFill>
                  <a:srgbClr val="A9B8CE"/>
                </a:solidFill>
                <a:latin typeface="Arial"/>
              </a:defRPr>
            </a:pPr>
            <a:r>
              <a:t>ECHOGUARD  /  UNCLONE AI</a:t>
            </a:r>
          </a:p>
        </p:txBody>
      </p:sp>
      <p:sp>
        <p:nvSpPr>
          <p:cNvPr id="5" name="TextBox 4"/>
          <p:cNvSpPr txBox="1"/>
          <p:nvPr/>
        </p:nvSpPr>
        <p:spPr>
          <a:xfrm>
            <a:off x="7772400" y="6547104"/>
            <a:ext cx="3291840" cy="182880"/>
          </a:xfrm>
          <a:prstGeom prst="rect">
            <a:avLst/>
          </a:prstGeom>
          <a:noFill/>
        </p:spPr>
        <p:txBody>
          <a:bodyPr wrap="square" lIns="0" rIns="0" tIns="0" bIns="0">
            <a:spAutoFit/>
          </a:bodyPr>
          <a:lstStyle/>
          <a:p>
            <a:pPr algn="r">
              <a:spcAft>
                <a:spcPts val="800"/>
              </a:spcAft>
              <a:defRPr sz="900" b="0">
                <a:solidFill>
                  <a:srgbClr val="A9B8CE"/>
                </a:solidFill>
                <a:latin typeface="Arial"/>
              </a:defRPr>
            </a:pPr>
            <a:r>
              <a:t>THE PROBLEM</a:t>
            </a:r>
          </a:p>
        </p:txBody>
      </p:sp>
      <p:sp>
        <p:nvSpPr>
          <p:cNvPr id="6" name="TextBox 5"/>
          <p:cNvSpPr txBox="1"/>
          <p:nvPr/>
        </p:nvSpPr>
        <p:spPr>
          <a:xfrm>
            <a:off x="11210544" y="6510528"/>
            <a:ext cx="365760" cy="219456"/>
          </a:xfrm>
          <a:prstGeom prst="rect">
            <a:avLst/>
          </a:prstGeom>
          <a:noFill/>
        </p:spPr>
        <p:txBody>
          <a:bodyPr wrap="square" lIns="0" rIns="0" tIns="0" bIns="0">
            <a:spAutoFit/>
          </a:bodyPr>
          <a:lstStyle/>
          <a:p>
            <a:pPr algn="r">
              <a:spcAft>
                <a:spcPts val="800"/>
              </a:spcAft>
              <a:defRPr sz="1200" b="1">
                <a:solidFill>
                  <a:srgbClr val="67EBDD"/>
                </a:solidFill>
                <a:latin typeface="Arial"/>
              </a:defRPr>
            </a:pPr>
            <a:r>
              <a:t>02</a:t>
            </a:r>
          </a:p>
        </p:txBody>
      </p:sp>
      <p:sp>
        <p:nvSpPr>
          <p:cNvPr id="7" name="TextBox 6"/>
          <p:cNvSpPr txBox="1"/>
          <p:nvPr/>
        </p:nvSpPr>
        <p:spPr>
          <a:xfrm>
            <a:off x="594360" y="393192"/>
            <a:ext cx="10058400" cy="228600"/>
          </a:xfrm>
          <a:prstGeom prst="rect">
            <a:avLst/>
          </a:prstGeom>
          <a:noFill/>
        </p:spPr>
        <p:txBody>
          <a:bodyPr wrap="square" lIns="0" rIns="0" tIns="0" bIns="0">
            <a:spAutoFit/>
          </a:bodyPr>
          <a:lstStyle/>
          <a:p>
            <a:pPr algn="l">
              <a:spcAft>
                <a:spcPts val="800"/>
              </a:spcAft>
              <a:defRPr sz="1100" b="1">
                <a:solidFill>
                  <a:srgbClr val="67EBDD"/>
                </a:solidFill>
                <a:latin typeface="Arial"/>
              </a:defRPr>
            </a:pPr>
            <a:r>
              <a:t>01 / WHY THIS MATTERS</a:t>
            </a:r>
          </a:p>
        </p:txBody>
      </p:sp>
      <p:sp>
        <p:nvSpPr>
          <p:cNvPr id="8" name="TextBox 7"/>
          <p:cNvSpPr txBox="1"/>
          <p:nvPr/>
        </p:nvSpPr>
        <p:spPr>
          <a:xfrm>
            <a:off x="594360" y="868680"/>
            <a:ext cx="10972800" cy="1024128"/>
          </a:xfrm>
          <a:prstGeom prst="rect">
            <a:avLst/>
          </a:prstGeom>
          <a:noFill/>
        </p:spPr>
        <p:txBody>
          <a:bodyPr wrap="square" lIns="0" rIns="0" tIns="0" bIns="0">
            <a:spAutoFit/>
          </a:bodyPr>
          <a:lstStyle/>
          <a:p>
            <a:pPr algn="l">
              <a:spcAft>
                <a:spcPts val="800"/>
              </a:spcAft>
              <a:defRPr sz="3400" b="1">
                <a:solidFill>
                  <a:srgbClr val="F2F6FF"/>
                </a:solidFill>
                <a:latin typeface="Arial"/>
              </a:defRPr>
            </a:pPr>
            <a:r>
              <a:t>A convincing voice is only part of the story.</a:t>
            </a:r>
          </a:p>
        </p:txBody>
      </p:sp>
      <p:sp>
        <p:nvSpPr>
          <p:cNvPr id="9" name="TextBox 8"/>
          <p:cNvSpPr txBox="1"/>
          <p:nvPr/>
        </p:nvSpPr>
        <p:spPr>
          <a:xfrm>
            <a:off x="612648" y="1673352"/>
            <a:ext cx="10881360" cy="530352"/>
          </a:xfrm>
          <a:prstGeom prst="rect">
            <a:avLst/>
          </a:prstGeom>
          <a:noFill/>
        </p:spPr>
        <p:txBody>
          <a:bodyPr wrap="square" lIns="0" rIns="0" tIns="0" bIns="0">
            <a:spAutoFit/>
          </a:bodyPr>
          <a:lstStyle/>
          <a:p>
            <a:pPr algn="l">
              <a:spcAft>
                <a:spcPts val="800"/>
              </a:spcAft>
              <a:defRPr sz="1700" b="0">
                <a:solidFill>
                  <a:srgbClr val="A9B8CE"/>
                </a:solidFill>
                <a:latin typeface="Arial"/>
              </a:defRPr>
            </a:pPr>
            <a:r>
              <a:t>Scams combine believable identities, emotional pressure and risky requests.</a:t>
            </a:r>
          </a:p>
        </p:txBody>
      </p:sp>
      <p:sp>
        <p:nvSpPr>
          <p:cNvPr id="10" name="Rounded Rectangle 9"/>
          <p:cNvSpPr/>
          <p:nvPr/>
        </p:nvSpPr>
        <p:spPr>
          <a:xfrm>
            <a:off x="612648" y="2514600"/>
            <a:ext cx="3520440" cy="2578608"/>
          </a:xfrm>
          <a:prstGeom prst="roundRect">
            <a:avLst>
              <a:gd name="adj" fmla="val 15000"/>
            </a:avLst>
          </a:prstGeom>
          <a:solidFill>
            <a:srgbClr val="111E32"/>
          </a:solidFill>
          <a:ln w="10160">
            <a:solidFill>
              <a:srgbClr val="293A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 y="2724912"/>
            <a:ext cx="548640" cy="411480"/>
          </a:xfrm>
          <a:prstGeom prst="rect">
            <a:avLst/>
          </a:prstGeom>
          <a:noFill/>
        </p:spPr>
        <p:txBody>
          <a:bodyPr wrap="square" lIns="0" rIns="0" tIns="0" bIns="0">
            <a:spAutoFit/>
          </a:bodyPr>
          <a:lstStyle/>
          <a:p>
            <a:pPr algn="l">
              <a:spcAft>
                <a:spcPts val="800"/>
              </a:spcAft>
              <a:defRPr sz="2500" b="1">
                <a:solidFill>
                  <a:srgbClr val="67EBDD"/>
                </a:solidFill>
                <a:latin typeface="Arial"/>
              </a:defRPr>
            </a:pPr>
            <a:r>
              <a:t>01</a:t>
            </a:r>
          </a:p>
        </p:txBody>
      </p:sp>
      <p:sp>
        <p:nvSpPr>
          <p:cNvPr id="12" name="TextBox 11"/>
          <p:cNvSpPr txBox="1"/>
          <p:nvPr/>
        </p:nvSpPr>
        <p:spPr>
          <a:xfrm>
            <a:off x="813816" y="3291840"/>
            <a:ext cx="3108960" cy="274320"/>
          </a:xfrm>
          <a:prstGeom prst="rect">
            <a:avLst/>
          </a:prstGeom>
          <a:noFill/>
        </p:spPr>
        <p:txBody>
          <a:bodyPr wrap="square" lIns="0" rIns="0" tIns="0" bIns="0">
            <a:spAutoFit/>
          </a:bodyPr>
          <a:lstStyle/>
          <a:p>
            <a:pPr algn="l">
              <a:spcAft>
                <a:spcPts val="800"/>
              </a:spcAft>
              <a:defRPr sz="1100" b="1">
                <a:solidFill>
                  <a:srgbClr val="67EBDD"/>
                </a:solidFill>
                <a:latin typeface="Arial"/>
              </a:defRPr>
            </a:pPr>
            <a:r>
              <a:t>BORROWED TRUST</a:t>
            </a:r>
          </a:p>
        </p:txBody>
      </p:sp>
      <p:sp>
        <p:nvSpPr>
          <p:cNvPr id="13" name="TextBox 12"/>
          <p:cNvSpPr txBox="1"/>
          <p:nvPr/>
        </p:nvSpPr>
        <p:spPr>
          <a:xfrm>
            <a:off x="813816" y="3749039"/>
            <a:ext cx="3063240" cy="548640"/>
          </a:xfrm>
          <a:prstGeom prst="rect">
            <a:avLst/>
          </a:prstGeom>
          <a:noFill/>
        </p:spPr>
        <p:txBody>
          <a:bodyPr wrap="square" lIns="0" rIns="0" tIns="0" bIns="0">
            <a:spAutoFit/>
          </a:bodyPr>
          <a:lstStyle/>
          <a:p>
            <a:pPr algn="l">
              <a:spcAft>
                <a:spcPts val="800"/>
              </a:spcAft>
              <a:defRPr sz="2100" b="1">
                <a:solidFill>
                  <a:srgbClr val="F2F6FF"/>
                </a:solidFill>
                <a:latin typeface="Arial"/>
              </a:defRPr>
            </a:pPr>
            <a:r>
              <a:t>“It’s me. I need your help.”</a:t>
            </a:r>
          </a:p>
        </p:txBody>
      </p:sp>
      <p:sp>
        <p:nvSpPr>
          <p:cNvPr id="14" name="TextBox 13"/>
          <p:cNvSpPr txBox="1"/>
          <p:nvPr/>
        </p:nvSpPr>
        <p:spPr>
          <a:xfrm>
            <a:off x="813816" y="4443984"/>
            <a:ext cx="3108960" cy="548640"/>
          </a:xfrm>
          <a:prstGeom prst="rect">
            <a:avLst/>
          </a:prstGeom>
          <a:noFill/>
        </p:spPr>
        <p:txBody>
          <a:bodyPr wrap="square" lIns="0" rIns="0" tIns="0" bIns="0">
            <a:spAutoFit/>
          </a:bodyPr>
          <a:lstStyle/>
          <a:p>
            <a:pPr algn="l">
              <a:spcAft>
                <a:spcPts val="800"/>
              </a:spcAft>
              <a:defRPr sz="1500" b="0">
                <a:solidFill>
                  <a:srgbClr val="A9B8CE"/>
                </a:solidFill>
                <a:latin typeface="Arial"/>
              </a:defRPr>
            </a:pPr>
            <a:r>
              <a:t>A familiar voice can make</a:t>
            </a:r>
          </a:p>
          <a:p>
            <a:pPr algn="l">
              <a:spcAft>
                <a:spcPts val="800"/>
              </a:spcAft>
              <a:defRPr sz="1500" b="0">
                <a:solidFill>
                  <a:srgbClr val="A9B8CE"/>
                </a:solidFill>
                <a:latin typeface="Arial"/>
              </a:defRPr>
            </a:pPr>
            <a:r>
              <a:t>a new request feel credible.</a:t>
            </a:r>
          </a:p>
        </p:txBody>
      </p:sp>
      <p:sp>
        <p:nvSpPr>
          <p:cNvPr id="15" name="Rounded Rectangle 14"/>
          <p:cNvSpPr/>
          <p:nvPr/>
        </p:nvSpPr>
        <p:spPr>
          <a:xfrm>
            <a:off x="4334256" y="2514600"/>
            <a:ext cx="3520440" cy="2578608"/>
          </a:xfrm>
          <a:prstGeom prst="roundRect">
            <a:avLst>
              <a:gd name="adj" fmla="val 15000"/>
            </a:avLst>
          </a:prstGeom>
          <a:solidFill>
            <a:srgbClr val="111E32"/>
          </a:solidFill>
          <a:ln w="10160">
            <a:solidFill>
              <a:srgbClr val="293A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5424" y="2724912"/>
            <a:ext cx="548640" cy="411480"/>
          </a:xfrm>
          <a:prstGeom prst="rect">
            <a:avLst/>
          </a:prstGeom>
          <a:noFill/>
        </p:spPr>
        <p:txBody>
          <a:bodyPr wrap="square" lIns="0" rIns="0" tIns="0" bIns="0">
            <a:spAutoFit/>
          </a:bodyPr>
          <a:lstStyle/>
          <a:p>
            <a:pPr algn="l">
              <a:spcAft>
                <a:spcPts val="800"/>
              </a:spcAft>
              <a:defRPr sz="2500" b="1">
                <a:solidFill>
                  <a:srgbClr val="B9A6FF"/>
                </a:solidFill>
                <a:latin typeface="Arial"/>
              </a:defRPr>
            </a:pPr>
            <a:r>
              <a:t>02</a:t>
            </a:r>
          </a:p>
        </p:txBody>
      </p:sp>
      <p:sp>
        <p:nvSpPr>
          <p:cNvPr id="17" name="TextBox 16"/>
          <p:cNvSpPr txBox="1"/>
          <p:nvPr/>
        </p:nvSpPr>
        <p:spPr>
          <a:xfrm>
            <a:off x="4535424" y="3291840"/>
            <a:ext cx="3108960" cy="274320"/>
          </a:xfrm>
          <a:prstGeom prst="rect">
            <a:avLst/>
          </a:prstGeom>
          <a:noFill/>
        </p:spPr>
        <p:txBody>
          <a:bodyPr wrap="square" lIns="0" rIns="0" tIns="0" bIns="0">
            <a:spAutoFit/>
          </a:bodyPr>
          <a:lstStyle/>
          <a:p>
            <a:pPr algn="l">
              <a:spcAft>
                <a:spcPts val="800"/>
              </a:spcAft>
              <a:defRPr sz="1100" b="1">
                <a:solidFill>
                  <a:srgbClr val="B9A6FF"/>
                </a:solidFill>
                <a:latin typeface="Arial"/>
              </a:defRPr>
            </a:pPr>
            <a:r>
              <a:t>PRESSURE TO ACT</a:t>
            </a:r>
          </a:p>
        </p:txBody>
      </p:sp>
      <p:sp>
        <p:nvSpPr>
          <p:cNvPr id="18" name="TextBox 17"/>
          <p:cNvSpPr txBox="1"/>
          <p:nvPr/>
        </p:nvSpPr>
        <p:spPr>
          <a:xfrm>
            <a:off x="4535424" y="3749039"/>
            <a:ext cx="3063240" cy="548640"/>
          </a:xfrm>
          <a:prstGeom prst="rect">
            <a:avLst/>
          </a:prstGeom>
          <a:noFill/>
        </p:spPr>
        <p:txBody>
          <a:bodyPr wrap="square" lIns="0" rIns="0" tIns="0" bIns="0">
            <a:spAutoFit/>
          </a:bodyPr>
          <a:lstStyle/>
          <a:p>
            <a:pPr algn="l">
              <a:spcAft>
                <a:spcPts val="800"/>
              </a:spcAft>
              <a:defRPr sz="2100" b="1">
                <a:solidFill>
                  <a:srgbClr val="F2F6FF"/>
                </a:solidFill>
                <a:latin typeface="Arial"/>
              </a:defRPr>
            </a:pPr>
            <a:r>
              <a:t>“Pay today or lose the offer.”</a:t>
            </a:r>
          </a:p>
        </p:txBody>
      </p:sp>
      <p:sp>
        <p:nvSpPr>
          <p:cNvPr id="19" name="TextBox 18"/>
          <p:cNvSpPr txBox="1"/>
          <p:nvPr/>
        </p:nvSpPr>
        <p:spPr>
          <a:xfrm>
            <a:off x="4535424" y="4443984"/>
            <a:ext cx="3108960" cy="548640"/>
          </a:xfrm>
          <a:prstGeom prst="rect">
            <a:avLst/>
          </a:prstGeom>
          <a:noFill/>
        </p:spPr>
        <p:txBody>
          <a:bodyPr wrap="square" lIns="0" rIns="0" tIns="0" bIns="0">
            <a:spAutoFit/>
          </a:bodyPr>
          <a:lstStyle/>
          <a:p>
            <a:pPr algn="l">
              <a:spcAft>
                <a:spcPts val="800"/>
              </a:spcAft>
              <a:defRPr sz="1500" b="0">
                <a:solidFill>
                  <a:srgbClr val="A9B8CE"/>
                </a:solidFill>
                <a:latin typeface="Arial"/>
              </a:defRPr>
            </a:pPr>
            <a:r>
              <a:t>Urgency can crowd out</a:t>
            </a:r>
          </a:p>
          <a:p>
            <a:pPr algn="l">
              <a:spcAft>
                <a:spcPts val="800"/>
              </a:spcAft>
              <a:defRPr sz="1500" b="0">
                <a:solidFill>
                  <a:srgbClr val="A9B8CE"/>
                </a:solidFill>
                <a:latin typeface="Arial"/>
              </a:defRPr>
            </a:pPr>
            <a:r>
              <a:t>independent verification.</a:t>
            </a:r>
          </a:p>
        </p:txBody>
      </p:sp>
      <p:sp>
        <p:nvSpPr>
          <p:cNvPr id="20" name="Rounded Rectangle 19"/>
          <p:cNvSpPr/>
          <p:nvPr/>
        </p:nvSpPr>
        <p:spPr>
          <a:xfrm>
            <a:off x="8055864" y="2514600"/>
            <a:ext cx="3520440" cy="2578608"/>
          </a:xfrm>
          <a:prstGeom prst="roundRect">
            <a:avLst>
              <a:gd name="adj" fmla="val 15000"/>
            </a:avLst>
          </a:prstGeom>
          <a:solidFill>
            <a:srgbClr val="111E32"/>
          </a:solidFill>
          <a:ln w="10160">
            <a:solidFill>
              <a:srgbClr val="293A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57032" y="2724912"/>
            <a:ext cx="548640" cy="411480"/>
          </a:xfrm>
          <a:prstGeom prst="rect">
            <a:avLst/>
          </a:prstGeom>
          <a:noFill/>
        </p:spPr>
        <p:txBody>
          <a:bodyPr wrap="square" lIns="0" rIns="0" tIns="0" bIns="0">
            <a:spAutoFit/>
          </a:bodyPr>
          <a:lstStyle/>
          <a:p>
            <a:pPr algn="l">
              <a:spcAft>
                <a:spcPts val="800"/>
              </a:spcAft>
              <a:defRPr sz="2500" b="1">
                <a:solidFill>
                  <a:srgbClr val="FFD49B"/>
                </a:solidFill>
                <a:latin typeface="Arial"/>
              </a:defRPr>
            </a:pPr>
            <a:r>
              <a:t>03</a:t>
            </a:r>
          </a:p>
        </p:txBody>
      </p:sp>
      <p:sp>
        <p:nvSpPr>
          <p:cNvPr id="22" name="TextBox 21"/>
          <p:cNvSpPr txBox="1"/>
          <p:nvPr/>
        </p:nvSpPr>
        <p:spPr>
          <a:xfrm>
            <a:off x="8257032" y="3291840"/>
            <a:ext cx="3108960" cy="274320"/>
          </a:xfrm>
          <a:prstGeom prst="rect">
            <a:avLst/>
          </a:prstGeom>
          <a:noFill/>
        </p:spPr>
        <p:txBody>
          <a:bodyPr wrap="square" lIns="0" rIns="0" tIns="0" bIns="0">
            <a:spAutoFit/>
          </a:bodyPr>
          <a:lstStyle/>
          <a:p>
            <a:pPr algn="l">
              <a:spcAft>
                <a:spcPts val="800"/>
              </a:spcAft>
              <a:defRPr sz="1100" b="1">
                <a:solidFill>
                  <a:srgbClr val="FFD49B"/>
                </a:solidFill>
                <a:latin typeface="Arial"/>
              </a:defRPr>
            </a:pPr>
            <a:r>
              <a:t>A HARMFUL DEMAND</a:t>
            </a:r>
          </a:p>
        </p:txBody>
      </p:sp>
      <p:sp>
        <p:nvSpPr>
          <p:cNvPr id="23" name="TextBox 22"/>
          <p:cNvSpPr txBox="1"/>
          <p:nvPr/>
        </p:nvSpPr>
        <p:spPr>
          <a:xfrm>
            <a:off x="8257032" y="3749039"/>
            <a:ext cx="3063240" cy="548640"/>
          </a:xfrm>
          <a:prstGeom prst="rect">
            <a:avLst/>
          </a:prstGeom>
          <a:noFill/>
        </p:spPr>
        <p:txBody>
          <a:bodyPr wrap="square" lIns="0" rIns="0" tIns="0" bIns="0">
            <a:spAutoFit/>
          </a:bodyPr>
          <a:lstStyle/>
          <a:p>
            <a:pPr algn="l">
              <a:spcAft>
                <a:spcPts val="800"/>
              </a:spcAft>
              <a:defRPr sz="2100" b="1">
                <a:solidFill>
                  <a:srgbClr val="F2F6FF"/>
                </a:solidFill>
                <a:latin typeface="Arial"/>
              </a:defRPr>
            </a:pPr>
            <a:r>
              <a:t>“Share your OTP.”</a:t>
            </a:r>
          </a:p>
        </p:txBody>
      </p:sp>
      <p:sp>
        <p:nvSpPr>
          <p:cNvPr id="24" name="TextBox 23"/>
          <p:cNvSpPr txBox="1"/>
          <p:nvPr/>
        </p:nvSpPr>
        <p:spPr>
          <a:xfrm>
            <a:off x="8257032" y="4443984"/>
            <a:ext cx="3108960" cy="548640"/>
          </a:xfrm>
          <a:prstGeom prst="rect">
            <a:avLst/>
          </a:prstGeom>
          <a:noFill/>
        </p:spPr>
        <p:txBody>
          <a:bodyPr wrap="square" lIns="0" rIns="0" tIns="0" bIns="0">
            <a:spAutoFit/>
          </a:bodyPr>
          <a:lstStyle/>
          <a:p>
            <a:pPr algn="l">
              <a:spcAft>
                <a:spcPts val="800"/>
              </a:spcAft>
              <a:defRPr sz="1500" b="0">
                <a:solidFill>
                  <a:srgbClr val="A9B8CE"/>
                </a:solidFill>
                <a:latin typeface="Arial"/>
              </a:defRPr>
            </a:pPr>
            <a:r>
              <a:t>The request can be dangerous</a:t>
            </a:r>
          </a:p>
          <a:p>
            <a:pPr algn="l">
              <a:spcAft>
                <a:spcPts val="800"/>
              </a:spcAft>
              <a:defRPr sz="1500" b="0">
                <a:solidFill>
                  <a:srgbClr val="A9B8CE"/>
                </a:solidFill>
                <a:latin typeface="Arial"/>
              </a:defRPr>
            </a:pPr>
            <a:r>
              <a:t>even when the voice is natural.</a:t>
            </a:r>
          </a:p>
        </p:txBody>
      </p:sp>
      <p:sp>
        <p:nvSpPr>
          <p:cNvPr id="25" name="TextBox 24"/>
          <p:cNvSpPr txBox="1"/>
          <p:nvPr/>
        </p:nvSpPr>
        <p:spPr>
          <a:xfrm>
            <a:off x="640080" y="5559552"/>
            <a:ext cx="10789920" cy="457200"/>
          </a:xfrm>
          <a:prstGeom prst="rect">
            <a:avLst/>
          </a:prstGeom>
          <a:noFill/>
        </p:spPr>
        <p:txBody>
          <a:bodyPr wrap="square" lIns="0" rIns="0" tIns="0" bIns="0">
            <a:spAutoFit/>
          </a:bodyPr>
          <a:lstStyle/>
          <a:p>
            <a:pPr algn="l">
              <a:spcAft>
                <a:spcPts val="800"/>
              </a:spcAft>
              <a:defRPr sz="2300" b="1">
                <a:solidFill>
                  <a:srgbClr val="F2F6FF"/>
                </a:solidFill>
                <a:latin typeface="Arial"/>
              </a:defRPr>
            </a:pPr>
            <a:r>
              <a:t>Authenticity and scam risk need separate checks.</a:t>
            </a:r>
          </a:p>
        </p:txBody>
      </p:sp>
    </p:spTree>
  </p:cSld>
  <p:clrMapOvr>
    <a:masterClrMapping/>
  </p:clrMapOvr>
  <p:transition spd="med" advClick="1">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png"/>
          <p:cNvPicPr>
            <a:picLocks noChangeAspect="1"/>
          </p:cNvPicPr>
          <p:nvPr/>
        </p:nvPicPr>
        <p:blipFill>
          <a:blip r:embed="rId2"/>
          <a:stretch>
            <a:fillRect/>
          </a:stretch>
        </p:blipFill>
        <p:spPr>
          <a:xfrm>
            <a:off x="0" y="0"/>
            <a:ext cx="12191695" cy="6858000"/>
          </a:xfrm>
          <a:prstGeom prst="rect">
            <a:avLst/>
          </a:prstGeom>
        </p:spPr>
      </p:pic>
      <p:cxnSp>
        <p:nvCxnSpPr>
          <p:cNvPr id="3" name="Connector 2"/>
          <p:cNvCxnSpPr/>
          <p:nvPr/>
        </p:nvCxnSpPr>
        <p:spPr>
          <a:xfrm>
            <a:off x="594360" y="6428232"/>
            <a:ext cx="11000232" cy="0"/>
          </a:xfrm>
          <a:prstGeom prst="line">
            <a:avLst/>
          </a:prstGeom>
          <a:ln w="7620">
            <a:solidFill>
              <a:srgbClr val="293A53"/>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12648" y="6547104"/>
            <a:ext cx="5486400" cy="164592"/>
          </a:xfrm>
          <a:prstGeom prst="rect">
            <a:avLst/>
          </a:prstGeom>
          <a:noFill/>
        </p:spPr>
        <p:txBody>
          <a:bodyPr wrap="square" lIns="0" rIns="0" tIns="0" bIns="0">
            <a:spAutoFit/>
          </a:bodyPr>
          <a:lstStyle/>
          <a:p>
            <a:pPr algn="l">
              <a:spcAft>
                <a:spcPts val="800"/>
              </a:spcAft>
              <a:defRPr sz="900" b="1">
                <a:solidFill>
                  <a:srgbClr val="A9B8CE"/>
                </a:solidFill>
                <a:latin typeface="Arial"/>
              </a:defRPr>
            </a:pPr>
            <a:r>
              <a:t>ECHOGUARD  /  UNCLONE AI</a:t>
            </a:r>
          </a:p>
        </p:txBody>
      </p:sp>
      <p:sp>
        <p:nvSpPr>
          <p:cNvPr id="5" name="TextBox 4"/>
          <p:cNvSpPr txBox="1"/>
          <p:nvPr/>
        </p:nvSpPr>
        <p:spPr>
          <a:xfrm>
            <a:off x="7772400" y="6547104"/>
            <a:ext cx="3291840" cy="182880"/>
          </a:xfrm>
          <a:prstGeom prst="rect">
            <a:avLst/>
          </a:prstGeom>
          <a:noFill/>
        </p:spPr>
        <p:txBody>
          <a:bodyPr wrap="square" lIns="0" rIns="0" tIns="0" bIns="0">
            <a:spAutoFit/>
          </a:bodyPr>
          <a:lstStyle/>
          <a:p>
            <a:pPr algn="r">
              <a:spcAft>
                <a:spcPts val="800"/>
              </a:spcAft>
              <a:defRPr sz="900" b="0">
                <a:solidFill>
                  <a:srgbClr val="A9B8CE"/>
                </a:solidFill>
                <a:latin typeface="Arial"/>
              </a:defRPr>
            </a:pPr>
            <a:r>
              <a:t>THE WORKSPACE</a:t>
            </a:r>
          </a:p>
        </p:txBody>
      </p:sp>
      <p:sp>
        <p:nvSpPr>
          <p:cNvPr id="6" name="TextBox 5"/>
          <p:cNvSpPr txBox="1"/>
          <p:nvPr/>
        </p:nvSpPr>
        <p:spPr>
          <a:xfrm>
            <a:off x="11210544" y="6510528"/>
            <a:ext cx="365760" cy="219456"/>
          </a:xfrm>
          <a:prstGeom prst="rect">
            <a:avLst/>
          </a:prstGeom>
          <a:noFill/>
        </p:spPr>
        <p:txBody>
          <a:bodyPr wrap="square" lIns="0" rIns="0" tIns="0" bIns="0">
            <a:spAutoFit/>
          </a:bodyPr>
          <a:lstStyle/>
          <a:p>
            <a:pPr algn="r">
              <a:spcAft>
                <a:spcPts val="800"/>
              </a:spcAft>
              <a:defRPr sz="1200" b="1">
                <a:solidFill>
                  <a:srgbClr val="67EBDD"/>
                </a:solidFill>
                <a:latin typeface="Arial"/>
              </a:defRPr>
            </a:pPr>
            <a:r>
              <a:t>03</a:t>
            </a:r>
          </a:p>
        </p:txBody>
      </p:sp>
      <p:sp>
        <p:nvSpPr>
          <p:cNvPr id="7" name="TextBox 6"/>
          <p:cNvSpPr txBox="1"/>
          <p:nvPr/>
        </p:nvSpPr>
        <p:spPr>
          <a:xfrm>
            <a:off x="594360" y="393192"/>
            <a:ext cx="10058400" cy="228600"/>
          </a:xfrm>
          <a:prstGeom prst="rect">
            <a:avLst/>
          </a:prstGeom>
          <a:noFill/>
        </p:spPr>
        <p:txBody>
          <a:bodyPr wrap="square" lIns="0" rIns="0" tIns="0" bIns="0">
            <a:spAutoFit/>
          </a:bodyPr>
          <a:lstStyle/>
          <a:p>
            <a:pPr algn="l">
              <a:spcAft>
                <a:spcPts val="800"/>
              </a:spcAft>
              <a:defRPr sz="1100" b="1">
                <a:solidFill>
                  <a:srgbClr val="67EBDD"/>
                </a:solidFill>
                <a:latin typeface="Arial"/>
              </a:defRPr>
            </a:pPr>
            <a:r>
              <a:t>02 / THE PRODUCT</a:t>
            </a:r>
          </a:p>
        </p:txBody>
      </p:sp>
      <p:sp>
        <p:nvSpPr>
          <p:cNvPr id="8" name="TextBox 7"/>
          <p:cNvSpPr txBox="1"/>
          <p:nvPr/>
        </p:nvSpPr>
        <p:spPr>
          <a:xfrm>
            <a:off x="594360" y="868680"/>
            <a:ext cx="10972800" cy="1024128"/>
          </a:xfrm>
          <a:prstGeom prst="rect">
            <a:avLst/>
          </a:prstGeom>
          <a:noFill/>
        </p:spPr>
        <p:txBody>
          <a:bodyPr wrap="square" lIns="0" rIns="0" tIns="0" bIns="0">
            <a:spAutoFit/>
          </a:bodyPr>
          <a:lstStyle/>
          <a:p>
            <a:pPr algn="l">
              <a:spcAft>
                <a:spcPts val="800"/>
              </a:spcAft>
              <a:defRPr sz="3400" b="1">
                <a:solidFill>
                  <a:srgbClr val="F2F6FF"/>
                </a:solidFill>
                <a:latin typeface="Arial"/>
              </a:defRPr>
            </a:pPr>
            <a:r>
              <a:t>One workspace. Three independent signals.</a:t>
            </a:r>
          </a:p>
        </p:txBody>
      </p:sp>
      <p:sp>
        <p:nvSpPr>
          <p:cNvPr id="9" name="Rounded Rectangle 8"/>
          <p:cNvSpPr/>
          <p:nvPr/>
        </p:nvSpPr>
        <p:spPr>
          <a:xfrm>
            <a:off x="612648" y="2103120"/>
            <a:ext cx="3456432" cy="941832"/>
          </a:xfrm>
          <a:prstGeom prst="roundRect">
            <a:avLst>
              <a:gd name="adj" fmla="val 15000"/>
            </a:avLst>
          </a:prstGeom>
          <a:solidFill>
            <a:srgbClr val="111E32"/>
          </a:solidFill>
          <a:ln w="10160">
            <a:solidFill>
              <a:srgbClr val="293A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286000"/>
            <a:ext cx="365760" cy="365760"/>
          </a:xfrm>
          <a:prstGeom prst="rect">
            <a:avLst/>
          </a:prstGeom>
          <a:noFill/>
        </p:spPr>
        <p:txBody>
          <a:bodyPr wrap="square" lIns="0" rIns="0" tIns="0" bIns="0">
            <a:spAutoFit/>
          </a:bodyPr>
          <a:lstStyle/>
          <a:p>
            <a:pPr algn="l">
              <a:spcAft>
                <a:spcPts val="800"/>
              </a:spcAft>
              <a:defRPr sz="1900" b="1">
                <a:solidFill>
                  <a:srgbClr val="67EBDD"/>
                </a:solidFill>
                <a:latin typeface="Arial"/>
              </a:defRPr>
            </a:pPr>
            <a:r>
              <a:t>01</a:t>
            </a:r>
          </a:p>
        </p:txBody>
      </p:sp>
      <p:sp>
        <p:nvSpPr>
          <p:cNvPr id="11" name="TextBox 10"/>
          <p:cNvSpPr txBox="1"/>
          <p:nvPr/>
        </p:nvSpPr>
        <p:spPr>
          <a:xfrm>
            <a:off x="1298448" y="2249424"/>
            <a:ext cx="2286000" cy="219456"/>
          </a:xfrm>
          <a:prstGeom prst="rect">
            <a:avLst/>
          </a:prstGeom>
          <a:noFill/>
        </p:spPr>
        <p:txBody>
          <a:bodyPr wrap="square" lIns="0" rIns="0" tIns="0" bIns="0">
            <a:spAutoFit/>
          </a:bodyPr>
          <a:lstStyle/>
          <a:p>
            <a:pPr algn="l">
              <a:spcAft>
                <a:spcPts val="800"/>
              </a:spcAft>
              <a:defRPr sz="1200" b="1">
                <a:solidFill>
                  <a:srgbClr val="67EBDD"/>
                </a:solidFill>
                <a:latin typeface="Arial"/>
              </a:defRPr>
            </a:pPr>
            <a:r>
              <a:t>VOICE</a:t>
            </a:r>
          </a:p>
        </p:txBody>
      </p:sp>
      <p:sp>
        <p:nvSpPr>
          <p:cNvPr id="12" name="TextBox 11"/>
          <p:cNvSpPr txBox="1"/>
          <p:nvPr/>
        </p:nvSpPr>
        <p:spPr>
          <a:xfrm>
            <a:off x="1298448" y="2569463"/>
            <a:ext cx="2487168" cy="365760"/>
          </a:xfrm>
          <a:prstGeom prst="rect">
            <a:avLst/>
          </a:prstGeom>
          <a:noFill/>
        </p:spPr>
        <p:txBody>
          <a:bodyPr wrap="square" lIns="0" rIns="0" tIns="0" bIns="0">
            <a:spAutoFit/>
          </a:bodyPr>
          <a:lstStyle/>
          <a:p>
            <a:pPr algn="l">
              <a:spcAft>
                <a:spcPts val="800"/>
              </a:spcAft>
              <a:defRPr sz="1400" b="0">
                <a:solidFill>
                  <a:srgbClr val="F2F6FF"/>
                </a:solidFill>
                <a:latin typeface="Arial"/>
              </a:defRPr>
            </a:pPr>
            <a:r>
              <a:t>Is the recording synthetic?</a:t>
            </a:r>
          </a:p>
        </p:txBody>
      </p:sp>
      <p:sp>
        <p:nvSpPr>
          <p:cNvPr id="13" name="Rounded Rectangle 12"/>
          <p:cNvSpPr/>
          <p:nvPr/>
        </p:nvSpPr>
        <p:spPr>
          <a:xfrm>
            <a:off x="612648" y="3227832"/>
            <a:ext cx="3456432" cy="941832"/>
          </a:xfrm>
          <a:prstGeom prst="roundRect">
            <a:avLst>
              <a:gd name="adj" fmla="val 15000"/>
            </a:avLst>
          </a:prstGeom>
          <a:solidFill>
            <a:srgbClr val="111E32"/>
          </a:solidFill>
          <a:ln w="10160">
            <a:solidFill>
              <a:srgbClr val="293A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5528" y="3410712"/>
            <a:ext cx="365760" cy="365760"/>
          </a:xfrm>
          <a:prstGeom prst="rect">
            <a:avLst/>
          </a:prstGeom>
          <a:noFill/>
        </p:spPr>
        <p:txBody>
          <a:bodyPr wrap="square" lIns="0" rIns="0" tIns="0" bIns="0">
            <a:spAutoFit/>
          </a:bodyPr>
          <a:lstStyle/>
          <a:p>
            <a:pPr algn="l">
              <a:spcAft>
                <a:spcPts val="800"/>
              </a:spcAft>
              <a:defRPr sz="1900" b="1">
                <a:solidFill>
                  <a:srgbClr val="B9A6FF"/>
                </a:solidFill>
                <a:latin typeface="Arial"/>
              </a:defRPr>
            </a:pPr>
            <a:r>
              <a:t>02</a:t>
            </a:r>
          </a:p>
        </p:txBody>
      </p:sp>
      <p:sp>
        <p:nvSpPr>
          <p:cNvPr id="15" name="TextBox 14"/>
          <p:cNvSpPr txBox="1"/>
          <p:nvPr/>
        </p:nvSpPr>
        <p:spPr>
          <a:xfrm>
            <a:off x="1298448" y="3374136"/>
            <a:ext cx="2286000" cy="219456"/>
          </a:xfrm>
          <a:prstGeom prst="rect">
            <a:avLst/>
          </a:prstGeom>
          <a:noFill/>
        </p:spPr>
        <p:txBody>
          <a:bodyPr wrap="square" lIns="0" rIns="0" tIns="0" bIns="0">
            <a:spAutoFit/>
          </a:bodyPr>
          <a:lstStyle/>
          <a:p>
            <a:pPr algn="l">
              <a:spcAft>
                <a:spcPts val="800"/>
              </a:spcAft>
              <a:defRPr sz="1200" b="1">
                <a:solidFill>
                  <a:srgbClr val="B9A6FF"/>
                </a:solidFill>
                <a:latin typeface="Arial"/>
              </a:defRPr>
            </a:pPr>
            <a:r>
              <a:t>TEXT</a:t>
            </a:r>
          </a:p>
        </p:txBody>
      </p:sp>
      <p:sp>
        <p:nvSpPr>
          <p:cNvPr id="16" name="TextBox 15"/>
          <p:cNvSpPr txBox="1"/>
          <p:nvPr/>
        </p:nvSpPr>
        <p:spPr>
          <a:xfrm>
            <a:off x="1298448" y="3694176"/>
            <a:ext cx="2487168" cy="365760"/>
          </a:xfrm>
          <a:prstGeom prst="rect">
            <a:avLst/>
          </a:prstGeom>
          <a:noFill/>
        </p:spPr>
        <p:txBody>
          <a:bodyPr wrap="square" lIns="0" rIns="0" tIns="0" bIns="0">
            <a:spAutoFit/>
          </a:bodyPr>
          <a:lstStyle/>
          <a:p>
            <a:pPr algn="l">
              <a:spcAft>
                <a:spcPts val="800"/>
              </a:spcAft>
              <a:defRPr sz="1400" b="0">
                <a:solidFill>
                  <a:srgbClr val="F2F6FF"/>
                </a:solidFill>
                <a:latin typeface="Arial"/>
              </a:defRPr>
            </a:pPr>
            <a:r>
              <a:t>What makes the request risky?</a:t>
            </a:r>
          </a:p>
        </p:txBody>
      </p:sp>
      <p:sp>
        <p:nvSpPr>
          <p:cNvPr id="17" name="Rounded Rectangle 16"/>
          <p:cNvSpPr/>
          <p:nvPr/>
        </p:nvSpPr>
        <p:spPr>
          <a:xfrm>
            <a:off x="612648" y="4352544"/>
            <a:ext cx="3456432" cy="941832"/>
          </a:xfrm>
          <a:prstGeom prst="roundRect">
            <a:avLst>
              <a:gd name="adj" fmla="val 15000"/>
            </a:avLst>
          </a:prstGeom>
          <a:solidFill>
            <a:srgbClr val="111E32"/>
          </a:solidFill>
          <a:ln w="10160">
            <a:solidFill>
              <a:srgbClr val="293A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95528" y="4535424"/>
            <a:ext cx="365760" cy="365760"/>
          </a:xfrm>
          <a:prstGeom prst="rect">
            <a:avLst/>
          </a:prstGeom>
          <a:noFill/>
        </p:spPr>
        <p:txBody>
          <a:bodyPr wrap="square" lIns="0" rIns="0" tIns="0" bIns="0">
            <a:spAutoFit/>
          </a:bodyPr>
          <a:lstStyle/>
          <a:p>
            <a:pPr algn="l">
              <a:spcAft>
                <a:spcPts val="800"/>
              </a:spcAft>
              <a:defRPr sz="1900" b="1">
                <a:solidFill>
                  <a:srgbClr val="FFD49B"/>
                </a:solidFill>
                <a:latin typeface="Arial"/>
              </a:defRPr>
            </a:pPr>
            <a:r>
              <a:t>03</a:t>
            </a:r>
          </a:p>
        </p:txBody>
      </p:sp>
      <p:sp>
        <p:nvSpPr>
          <p:cNvPr id="19" name="TextBox 18"/>
          <p:cNvSpPr txBox="1"/>
          <p:nvPr/>
        </p:nvSpPr>
        <p:spPr>
          <a:xfrm>
            <a:off x="1298448" y="4498848"/>
            <a:ext cx="2286000" cy="219456"/>
          </a:xfrm>
          <a:prstGeom prst="rect">
            <a:avLst/>
          </a:prstGeom>
          <a:noFill/>
        </p:spPr>
        <p:txBody>
          <a:bodyPr wrap="square" lIns="0" rIns="0" tIns="0" bIns="0">
            <a:spAutoFit/>
          </a:bodyPr>
          <a:lstStyle/>
          <a:p>
            <a:pPr algn="l">
              <a:spcAft>
                <a:spcPts val="800"/>
              </a:spcAft>
              <a:defRPr sz="1200" b="1">
                <a:solidFill>
                  <a:srgbClr val="FFD49B"/>
                </a:solidFill>
                <a:latin typeface="Arial"/>
              </a:defRPr>
            </a:pPr>
            <a:r>
              <a:t>COMMUNITY</a:t>
            </a:r>
          </a:p>
        </p:txBody>
      </p:sp>
      <p:sp>
        <p:nvSpPr>
          <p:cNvPr id="20" name="TextBox 19"/>
          <p:cNvSpPr txBox="1"/>
          <p:nvPr/>
        </p:nvSpPr>
        <p:spPr>
          <a:xfrm>
            <a:off x="1298448" y="4818888"/>
            <a:ext cx="2487168" cy="365760"/>
          </a:xfrm>
          <a:prstGeom prst="rect">
            <a:avLst/>
          </a:prstGeom>
          <a:noFill/>
        </p:spPr>
        <p:txBody>
          <a:bodyPr wrap="square" lIns="0" rIns="0" tIns="0" bIns="0">
            <a:spAutoFit/>
          </a:bodyPr>
          <a:lstStyle/>
          <a:p>
            <a:pPr algn="l">
              <a:spcAft>
                <a:spcPts val="800"/>
              </a:spcAft>
              <a:defRPr sz="1400" b="0">
                <a:solidFill>
                  <a:srgbClr val="F2F6FF"/>
                </a:solidFill>
                <a:latin typeface="Arial"/>
              </a:defRPr>
            </a:pPr>
            <a:r>
              <a:t>Has similar activity been reported?</a:t>
            </a:r>
          </a:p>
        </p:txBody>
      </p:sp>
      <p:sp>
        <p:nvSpPr>
          <p:cNvPr id="21" name="Rounded Rectangle 20"/>
          <p:cNvSpPr/>
          <p:nvPr/>
        </p:nvSpPr>
        <p:spPr>
          <a:xfrm>
            <a:off x="4315968" y="2103120"/>
            <a:ext cx="7260336" cy="4160520"/>
          </a:xfrm>
          <a:prstGeom prst="roundRect">
            <a:avLst>
              <a:gd name="adj" fmla="val 15000"/>
            </a:avLst>
          </a:prstGeom>
          <a:solidFill>
            <a:srgbClr val="0B1525"/>
          </a:solidFill>
          <a:ln w="10160">
            <a:solidFill>
              <a:srgbClr val="293A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4498848" y="2258568"/>
            <a:ext cx="68580" cy="68580"/>
          </a:xfrm>
          <a:prstGeom prst="ellipse">
            <a:avLst/>
          </a:prstGeom>
          <a:solidFill>
            <a:srgbClr val="FFB2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654296" y="2258568"/>
            <a:ext cx="68580" cy="68580"/>
          </a:xfrm>
          <a:prstGeom prst="ellipse">
            <a:avLst/>
          </a:prstGeom>
          <a:solidFill>
            <a:srgbClr val="FFD4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809744" y="2258568"/>
            <a:ext cx="68580" cy="68580"/>
          </a:xfrm>
          <a:prstGeom prst="ellipse">
            <a:avLst/>
          </a:prstGeom>
          <a:solidFill>
            <a:srgbClr val="67E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120640" y="2194560"/>
            <a:ext cx="5486400" cy="201168"/>
          </a:xfrm>
          <a:prstGeom prst="rect">
            <a:avLst/>
          </a:prstGeom>
          <a:noFill/>
        </p:spPr>
        <p:txBody>
          <a:bodyPr wrap="square" lIns="0" rIns="0" tIns="0" bIns="0">
            <a:spAutoFit/>
          </a:bodyPr>
          <a:lstStyle/>
          <a:p>
            <a:pPr algn="l">
              <a:spcAft>
                <a:spcPts val="800"/>
              </a:spcAft>
              <a:defRPr sz="900" b="0">
                <a:solidFill>
                  <a:srgbClr val="A9B8CE"/>
                </a:solidFill>
                <a:latin typeface="Arial"/>
              </a:defRPr>
            </a:pPr>
            <a:r>
              <a:t>ECHOGUARD / ACTUAL WEBSITE</a:t>
            </a:r>
          </a:p>
        </p:txBody>
      </p:sp>
      <p:pic>
        <p:nvPicPr>
          <p:cNvPr id="26" name="Picture 25" descr="website.png"/>
          <p:cNvPicPr>
            <a:picLocks noChangeAspect="1"/>
          </p:cNvPicPr>
          <p:nvPr/>
        </p:nvPicPr>
        <p:blipFill>
          <a:blip r:embed="rId3"/>
          <a:stretch>
            <a:fillRect/>
          </a:stretch>
        </p:blipFill>
        <p:spPr>
          <a:xfrm>
            <a:off x="4462272" y="2532888"/>
            <a:ext cx="6967728" cy="3474720"/>
          </a:xfrm>
          <a:prstGeom prst="rect">
            <a:avLst/>
          </a:prstGeom>
        </p:spPr>
      </p:pic>
      <p:sp>
        <p:nvSpPr>
          <p:cNvPr id="27" name="TextBox 26"/>
          <p:cNvSpPr txBox="1"/>
          <p:nvPr/>
        </p:nvSpPr>
        <p:spPr>
          <a:xfrm>
            <a:off x="658368" y="5614416"/>
            <a:ext cx="3566160" cy="594360"/>
          </a:xfrm>
          <a:prstGeom prst="rect">
            <a:avLst/>
          </a:prstGeom>
          <a:noFill/>
        </p:spPr>
        <p:txBody>
          <a:bodyPr wrap="square" lIns="0" rIns="0" tIns="0" bIns="0">
            <a:spAutoFit/>
          </a:bodyPr>
          <a:lstStyle/>
          <a:p>
            <a:pPr algn="l">
              <a:spcAft>
                <a:spcPts val="800"/>
              </a:spcAft>
              <a:defRPr sz="1600" b="0">
                <a:solidFill>
                  <a:srgbClr val="A9B8CE"/>
                </a:solidFill>
                <a:latin typeface="Arial"/>
              </a:defRPr>
            </a:pPr>
            <a:r>
              <a:t>No combined scam score.</a:t>
            </a:r>
          </a:p>
          <a:p>
            <a:pPr algn="l">
              <a:spcAft>
                <a:spcPts val="800"/>
              </a:spcAft>
              <a:defRPr sz="1600" b="0">
                <a:solidFill>
                  <a:srgbClr val="A9B8CE"/>
                </a:solidFill>
                <a:latin typeface="Arial"/>
              </a:defRPr>
            </a:pPr>
            <a:r>
              <a:t>Each result keeps its own meaning.</a:t>
            </a:r>
          </a:p>
        </p:txBody>
      </p:sp>
    </p:spTree>
  </p:cSld>
  <p:clrMapOvr>
    <a:masterClrMapping/>
  </p:clrMapOvr>
  <p:transition spd="med" advClick="1">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png"/>
          <p:cNvPicPr>
            <a:picLocks noChangeAspect="1"/>
          </p:cNvPicPr>
          <p:nvPr/>
        </p:nvPicPr>
        <p:blipFill>
          <a:blip r:embed="rId2"/>
          <a:stretch>
            <a:fillRect/>
          </a:stretch>
        </p:blipFill>
        <p:spPr>
          <a:xfrm>
            <a:off x="0" y="0"/>
            <a:ext cx="12191695" cy="6858000"/>
          </a:xfrm>
          <a:prstGeom prst="rect">
            <a:avLst/>
          </a:prstGeom>
        </p:spPr>
      </p:pic>
      <p:cxnSp>
        <p:nvCxnSpPr>
          <p:cNvPr id="3" name="Connector 2"/>
          <p:cNvCxnSpPr/>
          <p:nvPr/>
        </p:nvCxnSpPr>
        <p:spPr>
          <a:xfrm>
            <a:off x="594360" y="6428232"/>
            <a:ext cx="11000232" cy="0"/>
          </a:xfrm>
          <a:prstGeom prst="line">
            <a:avLst/>
          </a:prstGeom>
          <a:ln w="7620">
            <a:solidFill>
              <a:srgbClr val="293A53"/>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12648" y="6547104"/>
            <a:ext cx="5486400" cy="164592"/>
          </a:xfrm>
          <a:prstGeom prst="rect">
            <a:avLst/>
          </a:prstGeom>
          <a:noFill/>
        </p:spPr>
        <p:txBody>
          <a:bodyPr wrap="square" lIns="0" rIns="0" tIns="0" bIns="0">
            <a:spAutoFit/>
          </a:bodyPr>
          <a:lstStyle/>
          <a:p>
            <a:pPr algn="l">
              <a:spcAft>
                <a:spcPts val="800"/>
              </a:spcAft>
              <a:defRPr sz="900" b="1">
                <a:solidFill>
                  <a:srgbClr val="A9B8CE"/>
                </a:solidFill>
                <a:latin typeface="Arial"/>
              </a:defRPr>
            </a:pPr>
            <a:r>
              <a:t>ECHOGUARD  /  UNCLONE AI</a:t>
            </a:r>
          </a:p>
        </p:txBody>
      </p:sp>
      <p:sp>
        <p:nvSpPr>
          <p:cNvPr id="5" name="TextBox 4"/>
          <p:cNvSpPr txBox="1"/>
          <p:nvPr/>
        </p:nvSpPr>
        <p:spPr>
          <a:xfrm>
            <a:off x="7772400" y="6547104"/>
            <a:ext cx="3291840" cy="182880"/>
          </a:xfrm>
          <a:prstGeom prst="rect">
            <a:avLst/>
          </a:prstGeom>
          <a:noFill/>
        </p:spPr>
        <p:txBody>
          <a:bodyPr wrap="square" lIns="0" rIns="0" tIns="0" bIns="0">
            <a:spAutoFit/>
          </a:bodyPr>
          <a:lstStyle/>
          <a:p>
            <a:pPr algn="r">
              <a:spcAft>
                <a:spcPts val="800"/>
              </a:spcAft>
              <a:defRPr sz="900" b="0">
                <a:solidFill>
                  <a:srgbClr val="A9B8CE"/>
                </a:solidFill>
                <a:latin typeface="Arial"/>
              </a:defRPr>
            </a:pPr>
            <a:r>
              <a:t>TEXT SCAM ANALYSIS</a:t>
            </a:r>
          </a:p>
        </p:txBody>
      </p:sp>
      <p:sp>
        <p:nvSpPr>
          <p:cNvPr id="6" name="TextBox 5"/>
          <p:cNvSpPr txBox="1"/>
          <p:nvPr/>
        </p:nvSpPr>
        <p:spPr>
          <a:xfrm>
            <a:off x="11210544" y="6510528"/>
            <a:ext cx="365760" cy="219456"/>
          </a:xfrm>
          <a:prstGeom prst="rect">
            <a:avLst/>
          </a:prstGeom>
          <a:noFill/>
        </p:spPr>
        <p:txBody>
          <a:bodyPr wrap="square" lIns="0" rIns="0" tIns="0" bIns="0">
            <a:spAutoFit/>
          </a:bodyPr>
          <a:lstStyle/>
          <a:p>
            <a:pPr algn="r">
              <a:spcAft>
                <a:spcPts val="800"/>
              </a:spcAft>
              <a:defRPr sz="1200" b="1">
                <a:solidFill>
                  <a:srgbClr val="67EBDD"/>
                </a:solidFill>
                <a:latin typeface="Arial"/>
              </a:defRPr>
            </a:pPr>
            <a:r>
              <a:t>04</a:t>
            </a:r>
          </a:p>
        </p:txBody>
      </p:sp>
      <p:sp>
        <p:nvSpPr>
          <p:cNvPr id="7" name="TextBox 6"/>
          <p:cNvSpPr txBox="1"/>
          <p:nvPr/>
        </p:nvSpPr>
        <p:spPr>
          <a:xfrm>
            <a:off x="594360" y="393192"/>
            <a:ext cx="10058400" cy="228600"/>
          </a:xfrm>
          <a:prstGeom prst="rect">
            <a:avLst/>
          </a:prstGeom>
          <a:noFill/>
        </p:spPr>
        <p:txBody>
          <a:bodyPr wrap="square" lIns="0" rIns="0" tIns="0" bIns="0">
            <a:spAutoFit/>
          </a:bodyPr>
          <a:lstStyle/>
          <a:p>
            <a:pPr algn="l">
              <a:spcAft>
                <a:spcPts val="800"/>
              </a:spcAft>
              <a:defRPr sz="1100" b="1">
                <a:solidFill>
                  <a:srgbClr val="67EBDD"/>
                </a:solidFill>
                <a:latin typeface="Arial"/>
              </a:defRPr>
            </a:pPr>
            <a:r>
              <a:t>03 / FEATURE SPOTLIGHT</a:t>
            </a:r>
          </a:p>
        </p:txBody>
      </p:sp>
      <p:sp>
        <p:nvSpPr>
          <p:cNvPr id="8" name="TextBox 7"/>
          <p:cNvSpPr txBox="1"/>
          <p:nvPr/>
        </p:nvSpPr>
        <p:spPr>
          <a:xfrm>
            <a:off x="594360" y="868680"/>
            <a:ext cx="10972800" cy="1024128"/>
          </a:xfrm>
          <a:prstGeom prst="rect">
            <a:avLst/>
          </a:prstGeom>
          <a:noFill/>
        </p:spPr>
        <p:txBody>
          <a:bodyPr wrap="square" lIns="0" rIns="0" tIns="0" bIns="0">
            <a:spAutoFit/>
          </a:bodyPr>
          <a:lstStyle/>
          <a:p>
            <a:pPr algn="l">
              <a:spcAft>
                <a:spcPts val="800"/>
              </a:spcAft>
              <a:defRPr sz="3400" b="1">
                <a:solidFill>
                  <a:srgbClr val="F2F6FF"/>
                </a:solidFill>
                <a:latin typeface="Arial"/>
              </a:defRPr>
            </a:pPr>
            <a:r>
              <a:t>Explain the warning. Show the evidence.</a:t>
            </a:r>
          </a:p>
        </p:txBody>
      </p:sp>
      <p:sp>
        <p:nvSpPr>
          <p:cNvPr id="9" name="Rounded Rectangle 8"/>
          <p:cNvSpPr/>
          <p:nvPr/>
        </p:nvSpPr>
        <p:spPr>
          <a:xfrm>
            <a:off x="612648" y="1993392"/>
            <a:ext cx="4187952" cy="1965960"/>
          </a:xfrm>
          <a:prstGeom prst="roundRect">
            <a:avLst>
              <a:gd name="adj" fmla="val 15000"/>
            </a:avLst>
          </a:prstGeom>
          <a:solidFill>
            <a:srgbClr val="162436"/>
          </a:solidFill>
          <a:ln w="10160">
            <a:solidFill>
              <a:srgbClr val="293A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221992"/>
            <a:ext cx="3657600" cy="228600"/>
          </a:xfrm>
          <a:prstGeom prst="rect">
            <a:avLst/>
          </a:prstGeom>
          <a:noFill/>
        </p:spPr>
        <p:txBody>
          <a:bodyPr wrap="square" lIns="0" rIns="0" tIns="0" bIns="0">
            <a:spAutoFit/>
          </a:bodyPr>
          <a:lstStyle/>
          <a:p>
            <a:pPr algn="l">
              <a:spcAft>
                <a:spcPts val="800"/>
              </a:spcAft>
              <a:defRPr sz="1100" b="1">
                <a:solidFill>
                  <a:srgbClr val="B9A6FF"/>
                </a:solidFill>
                <a:latin typeface="Arial"/>
              </a:defRPr>
            </a:pPr>
            <a:r>
              <a:t>EXAMPLE MESSAGE</a:t>
            </a:r>
          </a:p>
        </p:txBody>
      </p:sp>
      <p:sp>
        <p:nvSpPr>
          <p:cNvPr id="11" name="TextBox 10"/>
          <p:cNvSpPr txBox="1"/>
          <p:nvPr/>
        </p:nvSpPr>
        <p:spPr>
          <a:xfrm>
            <a:off x="822960" y="2688336"/>
            <a:ext cx="3730752" cy="1051560"/>
          </a:xfrm>
          <a:prstGeom prst="rect">
            <a:avLst/>
          </a:prstGeom>
          <a:noFill/>
        </p:spPr>
        <p:txBody>
          <a:bodyPr wrap="square" lIns="0" rIns="0" tIns="0" bIns="0">
            <a:spAutoFit/>
          </a:bodyPr>
          <a:lstStyle/>
          <a:p>
            <a:pPr algn="l">
              <a:spcAft>
                <a:spcPts val="800"/>
              </a:spcAft>
              <a:defRPr sz="2000" b="1">
                <a:solidFill>
                  <a:srgbClr val="F2F6FF"/>
                </a:solidFill>
                <a:latin typeface="Arial"/>
              </a:defRPr>
            </a:pPr>
            <a:r>
              <a:t>“Pay ₹999 today to secure</a:t>
            </a:r>
          </a:p>
          <a:p>
            <a:pPr algn="l">
              <a:spcAft>
                <a:spcPts val="800"/>
              </a:spcAft>
              <a:defRPr sz="2000" b="1">
                <a:solidFill>
                  <a:srgbClr val="F2F6FF"/>
                </a:solidFill>
                <a:latin typeface="Arial"/>
              </a:defRPr>
            </a:pPr>
            <a:r>
              <a:t>your internship or your offer</a:t>
            </a:r>
          </a:p>
          <a:p>
            <a:pPr algn="l">
              <a:spcAft>
                <a:spcPts val="800"/>
              </a:spcAft>
              <a:defRPr sz="2000" b="1">
                <a:solidFill>
                  <a:srgbClr val="F2F6FF"/>
                </a:solidFill>
                <a:latin typeface="Arial"/>
              </a:defRPr>
            </a:pPr>
            <a:r>
              <a:t>will expire.”</a:t>
            </a:r>
          </a:p>
        </p:txBody>
      </p:sp>
      <p:sp>
        <p:nvSpPr>
          <p:cNvPr id="12" name="Rounded Rectangle 11"/>
          <p:cNvSpPr/>
          <p:nvPr/>
        </p:nvSpPr>
        <p:spPr>
          <a:xfrm>
            <a:off x="804672" y="4178808"/>
            <a:ext cx="1673352" cy="310896"/>
          </a:xfrm>
          <a:prstGeom prst="roundRect">
            <a:avLst>
              <a:gd name="adj" fmla="val 35000"/>
            </a:avLst>
          </a:prstGeom>
          <a:solidFill>
            <a:srgbClr val="111E32"/>
          </a:solidFill>
          <a:ln w="10160">
            <a:solidFill>
              <a:srgbClr val="293A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247388"/>
            <a:ext cx="1453896" cy="210312"/>
          </a:xfrm>
          <a:prstGeom prst="rect">
            <a:avLst/>
          </a:prstGeom>
          <a:noFill/>
        </p:spPr>
        <p:txBody>
          <a:bodyPr wrap="square" lIns="0" rIns="0" tIns="0" bIns="0">
            <a:spAutoFit/>
          </a:bodyPr>
          <a:lstStyle/>
          <a:p>
            <a:pPr algn="l">
              <a:spcAft>
                <a:spcPts val="800"/>
              </a:spcAft>
              <a:defRPr sz="1000" b="1">
                <a:solidFill>
                  <a:srgbClr val="FFB2AF"/>
                </a:solidFill>
                <a:latin typeface="Arial"/>
              </a:defRPr>
            </a:pPr>
            <a:r>
              <a:t>Likely a scam</a:t>
            </a:r>
          </a:p>
        </p:txBody>
      </p:sp>
      <p:sp>
        <p:nvSpPr>
          <p:cNvPr id="14" name="TextBox 13"/>
          <p:cNvSpPr txBox="1"/>
          <p:nvPr/>
        </p:nvSpPr>
        <p:spPr>
          <a:xfrm>
            <a:off x="822960" y="4681728"/>
            <a:ext cx="3840480" cy="731520"/>
          </a:xfrm>
          <a:prstGeom prst="rect">
            <a:avLst/>
          </a:prstGeom>
          <a:noFill/>
        </p:spPr>
        <p:txBody>
          <a:bodyPr wrap="square" lIns="0" rIns="0" tIns="0" bIns="0">
            <a:spAutoFit/>
          </a:bodyPr>
          <a:lstStyle/>
          <a:p>
            <a:pPr algn="l">
              <a:spcAft>
                <a:spcPts val="800"/>
              </a:spcAft>
              <a:defRPr sz="2000" b="1">
                <a:solidFill>
                  <a:srgbClr val="F2F6FF"/>
                </a:solidFill>
                <a:latin typeface="Arial"/>
              </a:defRPr>
            </a:pPr>
            <a:r>
              <a:t>Upfront payment + urgency</a:t>
            </a:r>
          </a:p>
          <a:p>
            <a:pPr algn="l">
              <a:spcAft>
                <a:spcPts val="800"/>
              </a:spcAft>
              <a:defRPr sz="2000" b="1">
                <a:solidFill>
                  <a:srgbClr val="F2F6FF"/>
                </a:solidFill>
                <a:latin typeface="Arial"/>
              </a:defRPr>
            </a:pPr>
            <a:r>
              <a:t>+ offer-expiry pressure</a:t>
            </a:r>
          </a:p>
        </p:txBody>
      </p:sp>
      <p:sp>
        <p:nvSpPr>
          <p:cNvPr id="15" name="TextBox 14"/>
          <p:cNvSpPr txBox="1"/>
          <p:nvPr/>
        </p:nvSpPr>
        <p:spPr>
          <a:xfrm>
            <a:off x="822960" y="5623560"/>
            <a:ext cx="3749039" cy="557784"/>
          </a:xfrm>
          <a:prstGeom prst="rect">
            <a:avLst/>
          </a:prstGeom>
          <a:noFill/>
        </p:spPr>
        <p:txBody>
          <a:bodyPr wrap="square" lIns="0" rIns="0" tIns="0" bIns="0">
            <a:spAutoFit/>
          </a:bodyPr>
          <a:lstStyle/>
          <a:p>
            <a:pPr algn="l">
              <a:spcAft>
                <a:spcPts val="800"/>
              </a:spcAft>
              <a:defRPr sz="1400" b="0">
                <a:solidFill>
                  <a:srgbClr val="A9B8CE"/>
                </a:solidFill>
                <a:latin typeface="Arial"/>
              </a:defRPr>
            </a:pPr>
            <a:r>
              <a:t>“Never pay upfront internship fees”</a:t>
            </a:r>
          </a:p>
          <a:p>
            <a:pPr algn="l">
              <a:spcAft>
                <a:spcPts val="800"/>
              </a:spcAft>
              <a:defRPr sz="1400" b="0">
                <a:solidFill>
                  <a:srgbClr val="A9B8CE"/>
                </a:solidFill>
                <a:latin typeface="Arial"/>
              </a:defRPr>
            </a:pPr>
            <a:r>
              <a:t>is protective advice, not the same demand.</a:t>
            </a:r>
          </a:p>
        </p:txBody>
      </p:sp>
      <p:sp>
        <p:nvSpPr>
          <p:cNvPr id="16" name="Rounded Rectangle 15"/>
          <p:cNvSpPr/>
          <p:nvPr/>
        </p:nvSpPr>
        <p:spPr>
          <a:xfrm>
            <a:off x="5074920" y="1993392"/>
            <a:ext cx="6510528" cy="4142232"/>
          </a:xfrm>
          <a:prstGeom prst="roundRect">
            <a:avLst>
              <a:gd name="adj" fmla="val 15000"/>
            </a:avLst>
          </a:prstGeom>
          <a:solidFill>
            <a:srgbClr val="0B1525"/>
          </a:solidFill>
          <a:ln w="10160">
            <a:solidFill>
              <a:srgbClr val="293A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text-result.png"/>
          <p:cNvPicPr>
            <a:picLocks noChangeAspect="1"/>
          </p:cNvPicPr>
          <p:nvPr/>
        </p:nvPicPr>
        <p:blipFill>
          <a:blip r:embed="rId3"/>
          <a:srcRect b="24015"/>
          <a:stretch>
            <a:fillRect/>
          </a:stretch>
        </p:blipFill>
        <p:spPr>
          <a:xfrm>
            <a:off x="5230368" y="2176272"/>
            <a:ext cx="6199632" cy="3758184"/>
          </a:xfrm>
          <a:prstGeom prst="rect">
            <a:avLst/>
          </a:prstGeom>
        </p:spPr>
      </p:pic>
    </p:spTree>
  </p:cSld>
  <p:clrMapOvr>
    <a:masterClrMapping/>
  </p:clrMapOvr>
  <p:transition spd="med" advClick="1">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png"/>
          <p:cNvPicPr>
            <a:picLocks noChangeAspect="1"/>
          </p:cNvPicPr>
          <p:nvPr/>
        </p:nvPicPr>
        <p:blipFill>
          <a:blip r:embed="rId2"/>
          <a:stretch>
            <a:fillRect/>
          </a:stretch>
        </p:blipFill>
        <p:spPr>
          <a:xfrm>
            <a:off x="0" y="0"/>
            <a:ext cx="12191695" cy="6858000"/>
          </a:xfrm>
          <a:prstGeom prst="rect">
            <a:avLst/>
          </a:prstGeom>
        </p:spPr>
      </p:pic>
      <p:cxnSp>
        <p:nvCxnSpPr>
          <p:cNvPr id="3" name="Connector 2"/>
          <p:cNvCxnSpPr/>
          <p:nvPr/>
        </p:nvCxnSpPr>
        <p:spPr>
          <a:xfrm>
            <a:off x="594360" y="6428232"/>
            <a:ext cx="11000232" cy="0"/>
          </a:xfrm>
          <a:prstGeom prst="line">
            <a:avLst/>
          </a:prstGeom>
          <a:ln w="7620">
            <a:solidFill>
              <a:srgbClr val="293A53"/>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12648" y="6547104"/>
            <a:ext cx="5486400" cy="164592"/>
          </a:xfrm>
          <a:prstGeom prst="rect">
            <a:avLst/>
          </a:prstGeom>
          <a:noFill/>
        </p:spPr>
        <p:txBody>
          <a:bodyPr wrap="square" lIns="0" rIns="0" tIns="0" bIns="0">
            <a:spAutoFit/>
          </a:bodyPr>
          <a:lstStyle/>
          <a:p>
            <a:pPr algn="l">
              <a:spcAft>
                <a:spcPts val="800"/>
              </a:spcAft>
              <a:defRPr sz="900" b="1">
                <a:solidFill>
                  <a:srgbClr val="A9B8CE"/>
                </a:solidFill>
                <a:latin typeface="Arial"/>
              </a:defRPr>
            </a:pPr>
            <a:r>
              <a:t>ECHOGUARD  /  UNCLONE AI</a:t>
            </a:r>
          </a:p>
        </p:txBody>
      </p:sp>
      <p:sp>
        <p:nvSpPr>
          <p:cNvPr id="5" name="TextBox 4"/>
          <p:cNvSpPr txBox="1"/>
          <p:nvPr/>
        </p:nvSpPr>
        <p:spPr>
          <a:xfrm>
            <a:off x="7772400" y="6547104"/>
            <a:ext cx="3291840" cy="182880"/>
          </a:xfrm>
          <a:prstGeom prst="rect">
            <a:avLst/>
          </a:prstGeom>
          <a:noFill/>
        </p:spPr>
        <p:txBody>
          <a:bodyPr wrap="square" lIns="0" rIns="0" tIns="0" bIns="0">
            <a:spAutoFit/>
          </a:bodyPr>
          <a:lstStyle/>
          <a:p>
            <a:pPr algn="r">
              <a:spcAft>
                <a:spcPts val="800"/>
              </a:spcAft>
              <a:defRPr sz="900" b="0">
                <a:solidFill>
                  <a:srgbClr val="A9B8CE"/>
                </a:solidFill>
                <a:latin typeface="Arial"/>
              </a:defRPr>
            </a:pPr>
            <a:r>
              <a:t>VOICE AUTHENTICITY</a:t>
            </a:r>
          </a:p>
        </p:txBody>
      </p:sp>
      <p:sp>
        <p:nvSpPr>
          <p:cNvPr id="6" name="TextBox 5"/>
          <p:cNvSpPr txBox="1"/>
          <p:nvPr/>
        </p:nvSpPr>
        <p:spPr>
          <a:xfrm>
            <a:off x="11210544" y="6510528"/>
            <a:ext cx="365760" cy="219456"/>
          </a:xfrm>
          <a:prstGeom prst="rect">
            <a:avLst/>
          </a:prstGeom>
          <a:noFill/>
        </p:spPr>
        <p:txBody>
          <a:bodyPr wrap="square" lIns="0" rIns="0" tIns="0" bIns="0">
            <a:spAutoFit/>
          </a:bodyPr>
          <a:lstStyle/>
          <a:p>
            <a:pPr algn="r">
              <a:spcAft>
                <a:spcPts val="800"/>
              </a:spcAft>
              <a:defRPr sz="1200" b="1">
                <a:solidFill>
                  <a:srgbClr val="67EBDD"/>
                </a:solidFill>
                <a:latin typeface="Arial"/>
              </a:defRPr>
            </a:pPr>
            <a:r>
              <a:t>05</a:t>
            </a:r>
          </a:p>
        </p:txBody>
      </p:sp>
      <p:sp>
        <p:nvSpPr>
          <p:cNvPr id="7" name="TextBox 6"/>
          <p:cNvSpPr txBox="1"/>
          <p:nvPr/>
        </p:nvSpPr>
        <p:spPr>
          <a:xfrm>
            <a:off x="594360" y="393192"/>
            <a:ext cx="10058400" cy="228600"/>
          </a:xfrm>
          <a:prstGeom prst="rect">
            <a:avLst/>
          </a:prstGeom>
          <a:noFill/>
        </p:spPr>
        <p:txBody>
          <a:bodyPr wrap="square" lIns="0" rIns="0" tIns="0" bIns="0">
            <a:spAutoFit/>
          </a:bodyPr>
          <a:lstStyle/>
          <a:p>
            <a:pPr algn="l">
              <a:spcAft>
                <a:spcPts val="800"/>
              </a:spcAft>
              <a:defRPr sz="1100" b="1">
                <a:solidFill>
                  <a:srgbClr val="67EBDD"/>
                </a:solidFill>
                <a:latin typeface="Arial"/>
              </a:defRPr>
            </a:pPr>
            <a:r>
              <a:t>04 / VOICE ANALYSIS</a:t>
            </a:r>
          </a:p>
        </p:txBody>
      </p:sp>
      <p:sp>
        <p:nvSpPr>
          <p:cNvPr id="8" name="TextBox 7"/>
          <p:cNvSpPr txBox="1"/>
          <p:nvPr/>
        </p:nvSpPr>
        <p:spPr>
          <a:xfrm>
            <a:off x="594360" y="868680"/>
            <a:ext cx="10972800" cy="1024128"/>
          </a:xfrm>
          <a:prstGeom prst="rect">
            <a:avLst/>
          </a:prstGeom>
          <a:noFill/>
        </p:spPr>
        <p:txBody>
          <a:bodyPr wrap="square" lIns="0" rIns="0" tIns="0" bIns="0">
            <a:spAutoFit/>
          </a:bodyPr>
          <a:lstStyle/>
          <a:p>
            <a:pPr algn="l">
              <a:spcAft>
                <a:spcPts val="800"/>
              </a:spcAft>
              <a:defRPr sz="3400" b="1">
                <a:solidFill>
                  <a:srgbClr val="F2F6FF"/>
                </a:solidFill>
                <a:latin typeface="Arial"/>
              </a:defRPr>
            </a:pPr>
            <a:r>
              <a:t>Question the signal. Don’t accuse the speaker.</a:t>
            </a:r>
          </a:p>
        </p:txBody>
      </p:sp>
      <p:sp>
        <p:nvSpPr>
          <p:cNvPr id="9" name="TextBox 8"/>
          <p:cNvSpPr txBox="1"/>
          <p:nvPr/>
        </p:nvSpPr>
        <p:spPr>
          <a:xfrm>
            <a:off x="612648" y="1673352"/>
            <a:ext cx="10881360" cy="530352"/>
          </a:xfrm>
          <a:prstGeom prst="rect">
            <a:avLst/>
          </a:prstGeom>
          <a:noFill/>
        </p:spPr>
        <p:txBody>
          <a:bodyPr wrap="square" lIns="0" rIns="0" tIns="0" bIns="0">
            <a:spAutoFit/>
          </a:bodyPr>
          <a:lstStyle/>
          <a:p>
            <a:pPr algn="l">
              <a:spcAft>
                <a:spcPts val="800"/>
              </a:spcAft>
              <a:defRPr sz="1700" b="0">
                <a:solidFill>
                  <a:srgbClr val="A9B8CE"/>
                </a:solidFill>
                <a:latin typeface="Arial"/>
              </a:defRPr>
            </a:pPr>
            <a:r>
              <a:t>A dedicated DetectifAI adapter keeps provider credentials on the server.</a:t>
            </a:r>
          </a:p>
        </p:txBody>
      </p:sp>
      <p:sp>
        <p:nvSpPr>
          <p:cNvPr id="10" name="Rounded Rectangle 9"/>
          <p:cNvSpPr/>
          <p:nvPr/>
        </p:nvSpPr>
        <p:spPr>
          <a:xfrm>
            <a:off x="612648" y="2441448"/>
            <a:ext cx="3310128" cy="1207008"/>
          </a:xfrm>
          <a:prstGeom prst="roundRect">
            <a:avLst>
              <a:gd name="adj" fmla="val 15000"/>
            </a:avLst>
          </a:prstGeom>
          <a:solidFill>
            <a:srgbClr val="111E32"/>
          </a:solidFill>
          <a:ln w="10160">
            <a:solidFill>
              <a:srgbClr val="293A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 y="2679192"/>
            <a:ext cx="2880360" cy="320040"/>
          </a:xfrm>
          <a:prstGeom prst="rect">
            <a:avLst/>
          </a:prstGeom>
          <a:noFill/>
        </p:spPr>
        <p:txBody>
          <a:bodyPr wrap="square" lIns="0" rIns="0" tIns="0" bIns="0">
            <a:spAutoFit/>
          </a:bodyPr>
          <a:lstStyle/>
          <a:p>
            <a:pPr algn="l">
              <a:spcAft>
                <a:spcPts val="800"/>
              </a:spcAft>
              <a:defRPr sz="1900" b="1">
                <a:solidFill>
                  <a:srgbClr val="67EBDD"/>
                </a:solidFill>
                <a:latin typeface="Arial"/>
              </a:defRPr>
            </a:pPr>
            <a:r>
              <a:t>UPLOAD</a:t>
            </a:r>
          </a:p>
        </p:txBody>
      </p:sp>
      <p:sp>
        <p:nvSpPr>
          <p:cNvPr id="12" name="TextBox 11"/>
          <p:cNvSpPr txBox="1"/>
          <p:nvPr/>
        </p:nvSpPr>
        <p:spPr>
          <a:xfrm>
            <a:off x="832104" y="3163824"/>
            <a:ext cx="2880360" cy="320040"/>
          </a:xfrm>
          <a:prstGeom prst="rect">
            <a:avLst/>
          </a:prstGeom>
          <a:noFill/>
        </p:spPr>
        <p:txBody>
          <a:bodyPr wrap="square" lIns="0" rIns="0" tIns="0" bIns="0">
            <a:spAutoFit/>
          </a:bodyPr>
          <a:lstStyle/>
          <a:p>
            <a:pPr algn="l">
              <a:spcAft>
                <a:spcPts val="800"/>
              </a:spcAft>
              <a:defRPr sz="1400" b="0">
                <a:solidFill>
                  <a:srgbClr val="A9B8CE"/>
                </a:solidFill>
                <a:latin typeface="Arial"/>
              </a:defRPr>
            </a:pPr>
            <a:r>
              <a:t>Authorized WAV, MP3 or M4A</a:t>
            </a:r>
          </a:p>
        </p:txBody>
      </p:sp>
      <p:cxnSp>
        <p:nvCxnSpPr>
          <p:cNvPr id="13" name="Connector 12"/>
          <p:cNvCxnSpPr/>
          <p:nvPr/>
        </p:nvCxnSpPr>
        <p:spPr>
          <a:xfrm>
            <a:off x="4014216" y="3017520"/>
            <a:ext cx="292608" cy="0"/>
          </a:xfrm>
          <a:prstGeom prst="line">
            <a:avLst/>
          </a:prstGeom>
          <a:ln w="2286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233672" y="2953512"/>
            <a:ext cx="73152" cy="64008"/>
          </a:xfrm>
          <a:prstGeom prst="line">
            <a:avLst/>
          </a:prstGeom>
          <a:ln w="2286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V="1">
            <a:off x="4233672" y="3017520"/>
            <a:ext cx="73152" cy="64007"/>
          </a:xfrm>
          <a:prstGeom prst="line">
            <a:avLst/>
          </a:prstGeom>
          <a:ln w="22860">
            <a:solidFill>
              <a:srgbClr val="67EBDD"/>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361688" y="2441448"/>
            <a:ext cx="3310128" cy="1207008"/>
          </a:xfrm>
          <a:prstGeom prst="roundRect">
            <a:avLst>
              <a:gd name="adj" fmla="val 15000"/>
            </a:avLst>
          </a:prstGeom>
          <a:solidFill>
            <a:srgbClr val="111E32"/>
          </a:solidFill>
          <a:ln w="10160">
            <a:solidFill>
              <a:srgbClr val="293A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81144" y="2679192"/>
            <a:ext cx="2880360" cy="320040"/>
          </a:xfrm>
          <a:prstGeom prst="rect">
            <a:avLst/>
          </a:prstGeom>
          <a:noFill/>
        </p:spPr>
        <p:txBody>
          <a:bodyPr wrap="square" lIns="0" rIns="0" tIns="0" bIns="0">
            <a:spAutoFit/>
          </a:bodyPr>
          <a:lstStyle/>
          <a:p>
            <a:pPr algn="l">
              <a:spcAft>
                <a:spcPts val="800"/>
              </a:spcAft>
              <a:defRPr sz="1900" b="1">
                <a:solidFill>
                  <a:srgbClr val="67EBDD"/>
                </a:solidFill>
                <a:latin typeface="Arial"/>
              </a:defRPr>
            </a:pPr>
            <a:r>
              <a:t>ANALYZE</a:t>
            </a:r>
          </a:p>
        </p:txBody>
      </p:sp>
      <p:sp>
        <p:nvSpPr>
          <p:cNvPr id="18" name="TextBox 17"/>
          <p:cNvSpPr txBox="1"/>
          <p:nvPr/>
        </p:nvSpPr>
        <p:spPr>
          <a:xfrm>
            <a:off x="4581144" y="3163824"/>
            <a:ext cx="2880360" cy="320040"/>
          </a:xfrm>
          <a:prstGeom prst="rect">
            <a:avLst/>
          </a:prstGeom>
          <a:noFill/>
        </p:spPr>
        <p:txBody>
          <a:bodyPr wrap="square" lIns="0" rIns="0" tIns="0" bIns="0">
            <a:spAutoFit/>
          </a:bodyPr>
          <a:lstStyle/>
          <a:p>
            <a:pPr algn="l">
              <a:spcAft>
                <a:spcPts val="800"/>
              </a:spcAft>
              <a:defRPr sz="1400" b="0">
                <a:solidFill>
                  <a:srgbClr val="A9B8CE"/>
                </a:solidFill>
                <a:latin typeface="Arial"/>
              </a:defRPr>
            </a:pPr>
            <a:r>
              <a:t>Official DetectifAI endpoint</a:t>
            </a:r>
          </a:p>
        </p:txBody>
      </p:sp>
      <p:cxnSp>
        <p:nvCxnSpPr>
          <p:cNvPr id="19" name="Connector 18"/>
          <p:cNvCxnSpPr/>
          <p:nvPr/>
        </p:nvCxnSpPr>
        <p:spPr>
          <a:xfrm>
            <a:off x="7763256" y="3017520"/>
            <a:ext cx="292608" cy="0"/>
          </a:xfrm>
          <a:prstGeom prst="line">
            <a:avLst/>
          </a:prstGeom>
          <a:ln w="2286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7982712" y="2953512"/>
            <a:ext cx="73152" cy="64008"/>
          </a:xfrm>
          <a:prstGeom prst="line">
            <a:avLst/>
          </a:prstGeom>
          <a:ln w="2286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7982712" y="3017520"/>
            <a:ext cx="73152" cy="64007"/>
          </a:xfrm>
          <a:prstGeom prst="line">
            <a:avLst/>
          </a:prstGeom>
          <a:ln w="22860">
            <a:solidFill>
              <a:srgbClr val="67EBDD"/>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110727" y="2441448"/>
            <a:ext cx="3310128" cy="1207008"/>
          </a:xfrm>
          <a:prstGeom prst="roundRect">
            <a:avLst>
              <a:gd name="adj" fmla="val 15000"/>
            </a:avLst>
          </a:prstGeom>
          <a:solidFill>
            <a:srgbClr val="111E32"/>
          </a:solidFill>
          <a:ln w="10160">
            <a:solidFill>
              <a:srgbClr val="293A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30183" y="2679192"/>
            <a:ext cx="2880360" cy="320040"/>
          </a:xfrm>
          <a:prstGeom prst="rect">
            <a:avLst/>
          </a:prstGeom>
          <a:noFill/>
        </p:spPr>
        <p:txBody>
          <a:bodyPr wrap="square" lIns="0" rIns="0" tIns="0" bIns="0">
            <a:spAutoFit/>
          </a:bodyPr>
          <a:lstStyle/>
          <a:p>
            <a:pPr algn="l">
              <a:spcAft>
                <a:spcPts val="800"/>
              </a:spcAft>
              <a:defRPr sz="1900" b="1">
                <a:solidFill>
                  <a:srgbClr val="67EBDD"/>
                </a:solidFill>
                <a:latin typeface="Arial"/>
              </a:defRPr>
            </a:pPr>
            <a:r>
              <a:t>INTERPRET</a:t>
            </a:r>
          </a:p>
        </p:txBody>
      </p:sp>
      <p:sp>
        <p:nvSpPr>
          <p:cNvPr id="24" name="TextBox 23"/>
          <p:cNvSpPr txBox="1"/>
          <p:nvPr/>
        </p:nvSpPr>
        <p:spPr>
          <a:xfrm>
            <a:off x="8330183" y="3163824"/>
            <a:ext cx="2880360" cy="320040"/>
          </a:xfrm>
          <a:prstGeom prst="rect">
            <a:avLst/>
          </a:prstGeom>
          <a:noFill/>
        </p:spPr>
        <p:txBody>
          <a:bodyPr wrap="square" lIns="0" rIns="0" tIns="0" bIns="0">
            <a:spAutoFit/>
          </a:bodyPr>
          <a:lstStyle/>
          <a:p>
            <a:pPr algn="l">
              <a:spcAft>
                <a:spcPts val="800"/>
              </a:spcAft>
              <a:defRPr sz="1400" b="0">
                <a:solidFill>
                  <a:srgbClr val="A9B8CE"/>
                </a:solidFill>
                <a:latin typeface="Arial"/>
              </a:defRPr>
            </a:pPr>
            <a:r>
              <a:t>Preserve the provider’s verdict</a:t>
            </a:r>
          </a:p>
        </p:txBody>
      </p:sp>
      <p:sp>
        <p:nvSpPr>
          <p:cNvPr id="25" name="TextBox 24"/>
          <p:cNvSpPr txBox="1"/>
          <p:nvPr/>
        </p:nvSpPr>
        <p:spPr>
          <a:xfrm>
            <a:off x="640080" y="4087368"/>
            <a:ext cx="10972800" cy="274320"/>
          </a:xfrm>
          <a:prstGeom prst="rect">
            <a:avLst/>
          </a:prstGeom>
          <a:noFill/>
        </p:spPr>
        <p:txBody>
          <a:bodyPr wrap="square" lIns="0" rIns="0" tIns="0" bIns="0">
            <a:spAutoFit/>
          </a:bodyPr>
          <a:lstStyle/>
          <a:p>
            <a:pPr algn="l">
              <a:spcAft>
                <a:spcPts val="800"/>
              </a:spcAft>
              <a:defRPr sz="1100" b="1">
                <a:solidFill>
                  <a:srgbClr val="A9B8CE"/>
                </a:solidFill>
                <a:latin typeface="Arial"/>
              </a:defRPr>
            </a:pPr>
            <a:r>
              <a:t>POSSIBLE PROVIDER OUTCOMES</a:t>
            </a:r>
          </a:p>
        </p:txBody>
      </p:sp>
      <p:cxnSp>
        <p:nvCxnSpPr>
          <p:cNvPr id="26" name="Connector 25"/>
          <p:cNvCxnSpPr/>
          <p:nvPr/>
        </p:nvCxnSpPr>
        <p:spPr>
          <a:xfrm>
            <a:off x="612648" y="4590288"/>
            <a:ext cx="3310128" cy="0"/>
          </a:xfrm>
          <a:prstGeom prst="line">
            <a:avLst/>
          </a:prstGeom>
          <a:ln w="25400">
            <a:solidFill>
              <a:srgbClr val="67EBDD"/>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12648" y="4828032"/>
            <a:ext cx="3383280" cy="411480"/>
          </a:xfrm>
          <a:prstGeom prst="rect">
            <a:avLst/>
          </a:prstGeom>
          <a:noFill/>
        </p:spPr>
        <p:txBody>
          <a:bodyPr wrap="square" lIns="0" rIns="0" tIns="0" bIns="0">
            <a:spAutoFit/>
          </a:bodyPr>
          <a:lstStyle/>
          <a:p>
            <a:pPr algn="l">
              <a:spcAft>
                <a:spcPts val="800"/>
              </a:spcAft>
              <a:defRPr sz="2200" b="1">
                <a:solidFill>
                  <a:srgbClr val="67EBDD"/>
                </a:solidFill>
                <a:latin typeface="Arial"/>
              </a:defRPr>
            </a:pPr>
            <a:r>
              <a:t>REAL</a:t>
            </a:r>
          </a:p>
        </p:txBody>
      </p:sp>
      <p:sp>
        <p:nvSpPr>
          <p:cNvPr id="28" name="TextBox 27"/>
          <p:cNvSpPr txBox="1"/>
          <p:nvPr/>
        </p:nvSpPr>
        <p:spPr>
          <a:xfrm>
            <a:off x="612648" y="5358384"/>
            <a:ext cx="3383280" cy="411480"/>
          </a:xfrm>
          <a:prstGeom prst="rect">
            <a:avLst/>
          </a:prstGeom>
          <a:noFill/>
        </p:spPr>
        <p:txBody>
          <a:bodyPr wrap="square" lIns="0" rIns="0" tIns="0" bIns="0">
            <a:spAutoFit/>
          </a:bodyPr>
          <a:lstStyle/>
          <a:p>
            <a:pPr algn="l">
              <a:spcAft>
                <a:spcPts val="800"/>
              </a:spcAft>
              <a:defRPr sz="1600" b="0">
                <a:solidFill>
                  <a:srgbClr val="F2F6FF"/>
                </a:solidFill>
                <a:latin typeface="Arial"/>
              </a:defRPr>
            </a:pPr>
            <a:r>
              <a:t>No strong synthetic indication</a:t>
            </a:r>
          </a:p>
        </p:txBody>
      </p:sp>
      <p:cxnSp>
        <p:nvCxnSpPr>
          <p:cNvPr id="29" name="Connector 28"/>
          <p:cNvCxnSpPr/>
          <p:nvPr/>
        </p:nvCxnSpPr>
        <p:spPr>
          <a:xfrm>
            <a:off x="4361688" y="4590288"/>
            <a:ext cx="3310128" cy="0"/>
          </a:xfrm>
          <a:prstGeom prst="line">
            <a:avLst/>
          </a:prstGeom>
          <a:ln w="25400">
            <a:solidFill>
              <a:srgbClr val="B9A6FF"/>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361688" y="4828032"/>
            <a:ext cx="3383280" cy="411480"/>
          </a:xfrm>
          <a:prstGeom prst="rect">
            <a:avLst/>
          </a:prstGeom>
          <a:noFill/>
        </p:spPr>
        <p:txBody>
          <a:bodyPr wrap="square" lIns="0" rIns="0" tIns="0" bIns="0">
            <a:spAutoFit/>
          </a:bodyPr>
          <a:lstStyle/>
          <a:p>
            <a:pPr algn="l">
              <a:spcAft>
                <a:spcPts val="800"/>
              </a:spcAft>
              <a:defRPr sz="2200" b="1">
                <a:solidFill>
                  <a:srgbClr val="B9A6FF"/>
                </a:solidFill>
                <a:latin typeface="Arial"/>
              </a:defRPr>
            </a:pPr>
            <a:r>
              <a:t>FAKE</a:t>
            </a:r>
          </a:p>
        </p:txBody>
      </p:sp>
      <p:sp>
        <p:nvSpPr>
          <p:cNvPr id="31" name="TextBox 30"/>
          <p:cNvSpPr txBox="1"/>
          <p:nvPr/>
        </p:nvSpPr>
        <p:spPr>
          <a:xfrm>
            <a:off x="4361688" y="5358384"/>
            <a:ext cx="3383280" cy="411480"/>
          </a:xfrm>
          <a:prstGeom prst="rect">
            <a:avLst/>
          </a:prstGeom>
          <a:noFill/>
        </p:spPr>
        <p:txBody>
          <a:bodyPr wrap="square" lIns="0" rIns="0" tIns="0" bIns="0">
            <a:spAutoFit/>
          </a:bodyPr>
          <a:lstStyle/>
          <a:p>
            <a:pPr algn="l">
              <a:spcAft>
                <a:spcPts val="800"/>
              </a:spcAft>
              <a:defRPr sz="1600" b="0">
                <a:solidFill>
                  <a:srgbClr val="F2F6FF"/>
                </a:solidFill>
                <a:latin typeface="Arial"/>
              </a:defRPr>
            </a:pPr>
            <a:r>
              <a:t>Synthetic indications found</a:t>
            </a:r>
          </a:p>
        </p:txBody>
      </p:sp>
      <p:cxnSp>
        <p:nvCxnSpPr>
          <p:cNvPr id="32" name="Connector 31"/>
          <p:cNvCxnSpPr/>
          <p:nvPr/>
        </p:nvCxnSpPr>
        <p:spPr>
          <a:xfrm>
            <a:off x="8110727" y="4590288"/>
            <a:ext cx="3310128" cy="0"/>
          </a:xfrm>
          <a:prstGeom prst="line">
            <a:avLst/>
          </a:prstGeom>
          <a:ln w="25400">
            <a:solidFill>
              <a:srgbClr val="FFD49B"/>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8110727" y="4828032"/>
            <a:ext cx="3383280" cy="411480"/>
          </a:xfrm>
          <a:prstGeom prst="rect">
            <a:avLst/>
          </a:prstGeom>
          <a:noFill/>
        </p:spPr>
        <p:txBody>
          <a:bodyPr wrap="square" lIns="0" rIns="0" tIns="0" bIns="0">
            <a:spAutoFit/>
          </a:bodyPr>
          <a:lstStyle/>
          <a:p>
            <a:pPr algn="l">
              <a:spcAft>
                <a:spcPts val="800"/>
              </a:spcAft>
              <a:defRPr sz="2200" b="1">
                <a:solidFill>
                  <a:srgbClr val="FFD49B"/>
                </a:solidFill>
                <a:latin typeface="Arial"/>
              </a:defRPr>
            </a:pPr>
            <a:r>
              <a:t>NOT SURE</a:t>
            </a:r>
          </a:p>
        </p:txBody>
      </p:sp>
      <p:sp>
        <p:nvSpPr>
          <p:cNvPr id="34" name="TextBox 33"/>
          <p:cNvSpPr txBox="1"/>
          <p:nvPr/>
        </p:nvSpPr>
        <p:spPr>
          <a:xfrm>
            <a:off x="8110727" y="5358384"/>
            <a:ext cx="3383280" cy="411480"/>
          </a:xfrm>
          <a:prstGeom prst="rect">
            <a:avLst/>
          </a:prstGeom>
          <a:noFill/>
        </p:spPr>
        <p:txBody>
          <a:bodyPr wrap="square" lIns="0" rIns="0" tIns="0" bIns="0">
            <a:spAutoFit/>
          </a:bodyPr>
          <a:lstStyle/>
          <a:p>
            <a:pPr algn="l">
              <a:spcAft>
                <a:spcPts val="800"/>
              </a:spcAft>
              <a:defRPr sz="1600" b="0">
                <a:solidFill>
                  <a:srgbClr val="F2F6FF"/>
                </a:solidFill>
                <a:latin typeface="Arial"/>
              </a:defRPr>
            </a:pPr>
            <a:r>
              <a:t>Inconclusive — keep uncertainty</a:t>
            </a:r>
          </a:p>
        </p:txBody>
      </p:sp>
      <p:sp>
        <p:nvSpPr>
          <p:cNvPr id="35" name="TextBox 34"/>
          <p:cNvSpPr txBox="1"/>
          <p:nvPr/>
        </p:nvSpPr>
        <p:spPr>
          <a:xfrm>
            <a:off x="640080" y="5989320"/>
            <a:ext cx="10972800" cy="256032"/>
          </a:xfrm>
          <a:prstGeom prst="rect">
            <a:avLst/>
          </a:prstGeom>
          <a:noFill/>
        </p:spPr>
        <p:txBody>
          <a:bodyPr wrap="square" lIns="0" rIns="0" tIns="0" bIns="0">
            <a:spAutoFit/>
          </a:bodyPr>
          <a:lstStyle/>
          <a:p>
            <a:pPr algn="l">
              <a:spcAft>
                <a:spcPts val="800"/>
              </a:spcAft>
              <a:defRPr sz="1200" b="0">
                <a:solidFill>
                  <a:srgbClr val="A9B8CE"/>
                </a:solidFill>
                <a:latin typeface="Arial"/>
              </a:defRPr>
            </a:pPr>
            <a:r>
              <a:t>Official schema verified • Real account detection test still requires credentials.</a:t>
            </a:r>
          </a:p>
        </p:txBody>
      </p:sp>
    </p:spTree>
  </p:cSld>
  <p:clrMapOvr>
    <a:masterClrMapping/>
  </p:clrMapOvr>
  <p:transition spd="med" advClick="1">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png"/>
          <p:cNvPicPr>
            <a:picLocks noChangeAspect="1"/>
          </p:cNvPicPr>
          <p:nvPr/>
        </p:nvPicPr>
        <p:blipFill>
          <a:blip r:embed="rId2"/>
          <a:stretch>
            <a:fillRect/>
          </a:stretch>
        </p:blipFill>
        <p:spPr>
          <a:xfrm>
            <a:off x="0" y="0"/>
            <a:ext cx="12191695" cy="6858000"/>
          </a:xfrm>
          <a:prstGeom prst="rect">
            <a:avLst/>
          </a:prstGeom>
        </p:spPr>
      </p:pic>
      <p:cxnSp>
        <p:nvCxnSpPr>
          <p:cNvPr id="3" name="Connector 2"/>
          <p:cNvCxnSpPr/>
          <p:nvPr/>
        </p:nvCxnSpPr>
        <p:spPr>
          <a:xfrm>
            <a:off x="594360" y="6428232"/>
            <a:ext cx="11000232" cy="0"/>
          </a:xfrm>
          <a:prstGeom prst="line">
            <a:avLst/>
          </a:prstGeom>
          <a:ln w="7620">
            <a:solidFill>
              <a:srgbClr val="293A53"/>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12648" y="6547104"/>
            <a:ext cx="5486400" cy="164592"/>
          </a:xfrm>
          <a:prstGeom prst="rect">
            <a:avLst/>
          </a:prstGeom>
          <a:noFill/>
        </p:spPr>
        <p:txBody>
          <a:bodyPr wrap="square" lIns="0" rIns="0" tIns="0" bIns="0">
            <a:spAutoFit/>
          </a:bodyPr>
          <a:lstStyle/>
          <a:p>
            <a:pPr algn="l">
              <a:spcAft>
                <a:spcPts val="800"/>
              </a:spcAft>
              <a:defRPr sz="900" b="1">
                <a:solidFill>
                  <a:srgbClr val="A9B8CE"/>
                </a:solidFill>
                <a:latin typeface="Arial"/>
              </a:defRPr>
            </a:pPr>
            <a:r>
              <a:t>ECHOGUARD  /  UNCLONE AI</a:t>
            </a:r>
          </a:p>
        </p:txBody>
      </p:sp>
      <p:sp>
        <p:nvSpPr>
          <p:cNvPr id="5" name="TextBox 4"/>
          <p:cNvSpPr txBox="1"/>
          <p:nvPr/>
        </p:nvSpPr>
        <p:spPr>
          <a:xfrm>
            <a:off x="7772400" y="6547104"/>
            <a:ext cx="3291840" cy="182880"/>
          </a:xfrm>
          <a:prstGeom prst="rect">
            <a:avLst/>
          </a:prstGeom>
          <a:noFill/>
        </p:spPr>
        <p:txBody>
          <a:bodyPr wrap="square" lIns="0" rIns="0" tIns="0" bIns="0">
            <a:spAutoFit/>
          </a:bodyPr>
          <a:lstStyle/>
          <a:p>
            <a:pPr algn="r">
              <a:spcAft>
                <a:spcPts val="800"/>
              </a:spcAft>
              <a:defRPr sz="900" b="0">
                <a:solidFill>
                  <a:srgbClr val="A9B8CE"/>
                </a:solidFill>
                <a:latin typeface="Arial"/>
              </a:defRPr>
            </a:pPr>
            <a:r>
              <a:t>COMMUNITY PHONE REPORTS</a:t>
            </a:r>
          </a:p>
        </p:txBody>
      </p:sp>
      <p:sp>
        <p:nvSpPr>
          <p:cNvPr id="6" name="TextBox 5"/>
          <p:cNvSpPr txBox="1"/>
          <p:nvPr/>
        </p:nvSpPr>
        <p:spPr>
          <a:xfrm>
            <a:off x="11210544" y="6510528"/>
            <a:ext cx="365760" cy="219456"/>
          </a:xfrm>
          <a:prstGeom prst="rect">
            <a:avLst/>
          </a:prstGeom>
          <a:noFill/>
        </p:spPr>
        <p:txBody>
          <a:bodyPr wrap="square" lIns="0" rIns="0" tIns="0" bIns="0">
            <a:spAutoFit/>
          </a:bodyPr>
          <a:lstStyle/>
          <a:p>
            <a:pPr algn="r">
              <a:spcAft>
                <a:spcPts val="800"/>
              </a:spcAft>
              <a:defRPr sz="1200" b="1">
                <a:solidFill>
                  <a:srgbClr val="67EBDD"/>
                </a:solidFill>
                <a:latin typeface="Arial"/>
              </a:defRPr>
            </a:pPr>
            <a:r>
              <a:t>06</a:t>
            </a:r>
          </a:p>
        </p:txBody>
      </p:sp>
      <p:sp>
        <p:nvSpPr>
          <p:cNvPr id="7" name="TextBox 6"/>
          <p:cNvSpPr txBox="1"/>
          <p:nvPr/>
        </p:nvSpPr>
        <p:spPr>
          <a:xfrm>
            <a:off x="594360" y="393192"/>
            <a:ext cx="10058400" cy="228600"/>
          </a:xfrm>
          <a:prstGeom prst="rect">
            <a:avLst/>
          </a:prstGeom>
          <a:noFill/>
        </p:spPr>
        <p:txBody>
          <a:bodyPr wrap="square" lIns="0" rIns="0" tIns="0" bIns="0">
            <a:spAutoFit/>
          </a:bodyPr>
          <a:lstStyle/>
          <a:p>
            <a:pPr algn="l">
              <a:spcAft>
                <a:spcPts val="800"/>
              </a:spcAft>
              <a:defRPr sz="1100" b="1">
                <a:solidFill>
                  <a:srgbClr val="67EBDD"/>
                </a:solidFill>
                <a:latin typeface="Arial"/>
              </a:defRPr>
            </a:pPr>
            <a:r>
              <a:t>05 / COMMUNITY INTELLIGENCE</a:t>
            </a:r>
          </a:p>
        </p:txBody>
      </p:sp>
      <p:sp>
        <p:nvSpPr>
          <p:cNvPr id="8" name="TextBox 7"/>
          <p:cNvSpPr txBox="1"/>
          <p:nvPr/>
        </p:nvSpPr>
        <p:spPr>
          <a:xfrm>
            <a:off x="594360" y="868680"/>
            <a:ext cx="10972800" cy="1024128"/>
          </a:xfrm>
          <a:prstGeom prst="rect">
            <a:avLst/>
          </a:prstGeom>
          <a:noFill/>
        </p:spPr>
        <p:txBody>
          <a:bodyPr wrap="square" lIns="0" rIns="0" tIns="0" bIns="0">
            <a:spAutoFit/>
          </a:bodyPr>
          <a:lstStyle/>
          <a:p>
            <a:pPr algn="l">
              <a:spcAft>
                <a:spcPts val="800"/>
              </a:spcAft>
              <a:defRPr sz="3400" b="1">
                <a:solidFill>
                  <a:srgbClr val="F2F6FF"/>
                </a:solidFill>
                <a:latin typeface="Arial"/>
              </a:defRPr>
            </a:pPr>
            <a:r>
              <a:t>Shared experiences. Carefully presented.</a:t>
            </a:r>
          </a:p>
        </p:txBody>
      </p:sp>
      <p:sp>
        <p:nvSpPr>
          <p:cNvPr id="9" name="TextBox 8"/>
          <p:cNvSpPr txBox="1"/>
          <p:nvPr/>
        </p:nvSpPr>
        <p:spPr>
          <a:xfrm>
            <a:off x="612648" y="1673352"/>
            <a:ext cx="10881360" cy="530352"/>
          </a:xfrm>
          <a:prstGeom prst="rect">
            <a:avLst/>
          </a:prstGeom>
          <a:noFill/>
        </p:spPr>
        <p:txBody>
          <a:bodyPr wrap="square" lIns="0" rIns="0" tIns="0" bIns="0">
            <a:spAutoFit/>
          </a:bodyPr>
          <a:lstStyle/>
          <a:p>
            <a:pPr algn="l">
              <a:spcAft>
                <a:spcPts val="800"/>
              </a:spcAft>
              <a:defRPr sz="1700" b="0">
                <a:solidFill>
                  <a:srgbClr val="A9B8CE"/>
                </a:solidFill>
                <a:latin typeface="Arial"/>
              </a:defRPr>
            </a:pPr>
            <a:r>
              <a:t>Search real submissions, contribute an experience, or flag a misleading result.</a:t>
            </a:r>
          </a:p>
        </p:txBody>
      </p:sp>
      <p:sp>
        <p:nvSpPr>
          <p:cNvPr id="10" name="Rounded Rectangle 9"/>
          <p:cNvSpPr/>
          <p:nvPr/>
        </p:nvSpPr>
        <p:spPr>
          <a:xfrm>
            <a:off x="612648" y="2423160"/>
            <a:ext cx="5120640" cy="859536"/>
          </a:xfrm>
          <a:prstGeom prst="roundRect">
            <a:avLst>
              <a:gd name="adj" fmla="val 15000"/>
            </a:avLst>
          </a:prstGeom>
          <a:solidFill>
            <a:srgbClr val="111E32"/>
          </a:solidFill>
          <a:ln w="10160">
            <a:solidFill>
              <a:srgbClr val="293A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 y="2606040"/>
            <a:ext cx="1188720" cy="320040"/>
          </a:xfrm>
          <a:prstGeom prst="rect">
            <a:avLst/>
          </a:prstGeom>
          <a:noFill/>
        </p:spPr>
        <p:txBody>
          <a:bodyPr wrap="square" lIns="0" rIns="0" tIns="0" bIns="0">
            <a:spAutoFit/>
          </a:bodyPr>
          <a:lstStyle/>
          <a:p>
            <a:pPr algn="l">
              <a:spcAft>
                <a:spcPts val="800"/>
              </a:spcAft>
              <a:defRPr sz="1500" b="1">
                <a:solidFill>
                  <a:srgbClr val="67EBDD"/>
                </a:solidFill>
                <a:latin typeface="Arial"/>
              </a:defRPr>
            </a:pPr>
            <a:r>
              <a:t>SEARCH</a:t>
            </a:r>
          </a:p>
        </p:txBody>
      </p:sp>
      <p:sp>
        <p:nvSpPr>
          <p:cNvPr id="12" name="TextBox 11"/>
          <p:cNvSpPr txBox="1"/>
          <p:nvPr/>
        </p:nvSpPr>
        <p:spPr>
          <a:xfrm>
            <a:off x="2267712" y="2560320"/>
            <a:ext cx="3163824" cy="640080"/>
          </a:xfrm>
          <a:prstGeom prst="rect">
            <a:avLst/>
          </a:prstGeom>
          <a:noFill/>
        </p:spPr>
        <p:txBody>
          <a:bodyPr wrap="square" lIns="0" rIns="0" tIns="0" bIns="0">
            <a:spAutoFit/>
          </a:bodyPr>
          <a:lstStyle/>
          <a:p>
            <a:pPr algn="l">
              <a:spcAft>
                <a:spcPts val="800"/>
              </a:spcAft>
              <a:defRPr sz="1600" b="0">
                <a:solidFill>
                  <a:srgbClr val="F2F6FF"/>
                </a:solidFill>
                <a:latin typeface="Arial"/>
              </a:defRPr>
            </a:pPr>
            <a:r>
              <a:t>Normalize the number</a:t>
            </a:r>
          </a:p>
          <a:p>
            <a:pPr algn="l">
              <a:spcAft>
                <a:spcPts val="800"/>
              </a:spcAft>
              <a:defRPr sz="1600" b="0">
                <a:solidFill>
                  <a:srgbClr val="F2F6FF"/>
                </a:solidFill>
                <a:latin typeface="Arial"/>
              </a:defRPr>
            </a:pPr>
            <a:r>
              <a:t>with its country code.</a:t>
            </a:r>
          </a:p>
        </p:txBody>
      </p:sp>
      <p:sp>
        <p:nvSpPr>
          <p:cNvPr id="13" name="Rounded Rectangle 12"/>
          <p:cNvSpPr/>
          <p:nvPr/>
        </p:nvSpPr>
        <p:spPr>
          <a:xfrm>
            <a:off x="612648" y="3447288"/>
            <a:ext cx="5120640" cy="859536"/>
          </a:xfrm>
          <a:prstGeom prst="roundRect">
            <a:avLst>
              <a:gd name="adj" fmla="val 15000"/>
            </a:avLst>
          </a:prstGeom>
          <a:solidFill>
            <a:srgbClr val="111E32"/>
          </a:solidFill>
          <a:ln w="10160">
            <a:solidFill>
              <a:srgbClr val="293A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 y="3630168"/>
            <a:ext cx="1188720" cy="320040"/>
          </a:xfrm>
          <a:prstGeom prst="rect">
            <a:avLst/>
          </a:prstGeom>
          <a:noFill/>
        </p:spPr>
        <p:txBody>
          <a:bodyPr wrap="square" lIns="0" rIns="0" tIns="0" bIns="0">
            <a:spAutoFit/>
          </a:bodyPr>
          <a:lstStyle/>
          <a:p>
            <a:pPr algn="l">
              <a:spcAft>
                <a:spcPts val="800"/>
              </a:spcAft>
              <a:defRPr sz="1500" b="1">
                <a:solidFill>
                  <a:srgbClr val="B9A6FF"/>
                </a:solidFill>
                <a:latin typeface="Arial"/>
              </a:defRPr>
            </a:pPr>
            <a:r>
              <a:t>REPORT</a:t>
            </a:r>
          </a:p>
        </p:txBody>
      </p:sp>
      <p:sp>
        <p:nvSpPr>
          <p:cNvPr id="15" name="TextBox 14"/>
          <p:cNvSpPr txBox="1"/>
          <p:nvPr/>
        </p:nvSpPr>
        <p:spPr>
          <a:xfrm>
            <a:off x="2267712" y="3584448"/>
            <a:ext cx="3163824" cy="640080"/>
          </a:xfrm>
          <a:prstGeom prst="rect">
            <a:avLst/>
          </a:prstGeom>
          <a:noFill/>
        </p:spPr>
        <p:txBody>
          <a:bodyPr wrap="square" lIns="0" rIns="0" tIns="0" bIns="0">
            <a:spAutoFit/>
          </a:bodyPr>
          <a:lstStyle/>
          <a:p>
            <a:pPr algn="l">
              <a:spcAft>
                <a:spcPts val="800"/>
              </a:spcAft>
              <a:defRPr sz="1600" b="0">
                <a:solidFill>
                  <a:srgbClr val="F2F6FF"/>
                </a:solidFill>
                <a:latin typeface="Arial"/>
              </a:defRPr>
            </a:pPr>
            <a:r>
              <a:t>Select a category.</a:t>
            </a:r>
          </a:p>
          <a:p>
            <a:pPr algn="l">
              <a:spcAft>
                <a:spcPts val="800"/>
              </a:spcAft>
              <a:defRPr sz="1600" b="0">
                <a:solidFill>
                  <a:srgbClr val="F2F6FF"/>
                </a:solidFill>
                <a:latin typeface="Arial"/>
              </a:defRPr>
            </a:pPr>
            <a:r>
              <a:t>Keep descriptions private.</a:t>
            </a:r>
          </a:p>
        </p:txBody>
      </p:sp>
      <p:sp>
        <p:nvSpPr>
          <p:cNvPr id="16" name="Rounded Rectangle 15"/>
          <p:cNvSpPr/>
          <p:nvPr/>
        </p:nvSpPr>
        <p:spPr>
          <a:xfrm>
            <a:off x="612648" y="4471416"/>
            <a:ext cx="5120640" cy="859536"/>
          </a:xfrm>
          <a:prstGeom prst="roundRect">
            <a:avLst>
              <a:gd name="adj" fmla="val 15000"/>
            </a:avLst>
          </a:prstGeom>
          <a:solidFill>
            <a:srgbClr val="111E32"/>
          </a:solidFill>
          <a:ln w="10160">
            <a:solidFill>
              <a:srgbClr val="293A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2104" y="4654296"/>
            <a:ext cx="1188720" cy="320040"/>
          </a:xfrm>
          <a:prstGeom prst="rect">
            <a:avLst/>
          </a:prstGeom>
          <a:noFill/>
        </p:spPr>
        <p:txBody>
          <a:bodyPr wrap="square" lIns="0" rIns="0" tIns="0" bIns="0">
            <a:spAutoFit/>
          </a:bodyPr>
          <a:lstStyle/>
          <a:p>
            <a:pPr algn="l">
              <a:spcAft>
                <a:spcPts val="800"/>
              </a:spcAft>
              <a:defRPr sz="1500" b="1">
                <a:solidFill>
                  <a:srgbClr val="FFD49B"/>
                </a:solidFill>
                <a:latin typeface="Arial"/>
              </a:defRPr>
            </a:pPr>
            <a:r>
              <a:t>REVIEW</a:t>
            </a:r>
          </a:p>
        </p:txBody>
      </p:sp>
      <p:sp>
        <p:nvSpPr>
          <p:cNvPr id="18" name="TextBox 17"/>
          <p:cNvSpPr txBox="1"/>
          <p:nvPr/>
        </p:nvSpPr>
        <p:spPr>
          <a:xfrm>
            <a:off x="2267712" y="4608576"/>
            <a:ext cx="3163824" cy="640080"/>
          </a:xfrm>
          <a:prstGeom prst="rect">
            <a:avLst/>
          </a:prstGeom>
          <a:noFill/>
        </p:spPr>
        <p:txBody>
          <a:bodyPr wrap="square" lIns="0" rIns="0" tIns="0" bIns="0">
            <a:spAutoFit/>
          </a:bodyPr>
          <a:lstStyle/>
          <a:p>
            <a:pPr algn="l">
              <a:spcAft>
                <a:spcPts val="800"/>
              </a:spcAft>
              <a:defRPr sz="1600" b="0">
                <a:solidFill>
                  <a:srgbClr val="F2F6FF"/>
                </a:solidFill>
                <a:latin typeface="Arial"/>
              </a:defRPr>
            </a:pPr>
            <a:r>
              <a:t>Flag a result for</a:t>
            </a:r>
          </a:p>
          <a:p>
            <a:pPr algn="l">
              <a:spcAft>
                <a:spcPts val="800"/>
              </a:spcAft>
              <a:defRPr sz="1600" b="0">
                <a:solidFill>
                  <a:srgbClr val="F2F6FF"/>
                </a:solidFill>
                <a:latin typeface="Arial"/>
              </a:defRPr>
            </a:pPr>
            <a:r>
              <a:t>operator review.</a:t>
            </a:r>
          </a:p>
        </p:txBody>
      </p:sp>
      <p:sp>
        <p:nvSpPr>
          <p:cNvPr id="19" name="Rounded Rectangle 18"/>
          <p:cNvSpPr/>
          <p:nvPr/>
        </p:nvSpPr>
        <p:spPr>
          <a:xfrm>
            <a:off x="6080760" y="2423160"/>
            <a:ext cx="5504688" cy="2926080"/>
          </a:xfrm>
          <a:prstGeom prst="roundRect">
            <a:avLst>
              <a:gd name="adj" fmla="val 15000"/>
            </a:avLst>
          </a:prstGeom>
          <a:solidFill>
            <a:srgbClr val="111E32"/>
          </a:solidFill>
          <a:ln w="10160">
            <a:solidFill>
              <a:srgbClr val="293A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45936" y="2660904"/>
            <a:ext cx="4846320" cy="274320"/>
          </a:xfrm>
          <a:prstGeom prst="rect">
            <a:avLst/>
          </a:prstGeom>
          <a:noFill/>
        </p:spPr>
        <p:txBody>
          <a:bodyPr wrap="square" lIns="0" rIns="0" tIns="0" bIns="0">
            <a:spAutoFit/>
          </a:bodyPr>
          <a:lstStyle/>
          <a:p>
            <a:pPr algn="l">
              <a:spcAft>
                <a:spcPts val="800"/>
              </a:spcAft>
              <a:defRPr sz="1200" b="1">
                <a:solidFill>
                  <a:srgbClr val="67EBDD"/>
                </a:solidFill>
                <a:latin typeface="Arial"/>
              </a:defRPr>
            </a:pPr>
            <a:r>
              <a:t>WHAT SEARCH SHOWS</a:t>
            </a:r>
          </a:p>
        </p:txBody>
      </p:sp>
      <p:sp>
        <p:nvSpPr>
          <p:cNvPr id="21" name="TextBox 20"/>
          <p:cNvSpPr txBox="1"/>
          <p:nvPr/>
        </p:nvSpPr>
        <p:spPr>
          <a:xfrm>
            <a:off x="6364224" y="3200400"/>
            <a:ext cx="411480" cy="274320"/>
          </a:xfrm>
          <a:prstGeom prst="rect">
            <a:avLst/>
          </a:prstGeom>
          <a:noFill/>
        </p:spPr>
        <p:txBody>
          <a:bodyPr wrap="square" lIns="0" rIns="0" tIns="0" bIns="0">
            <a:spAutoFit/>
          </a:bodyPr>
          <a:lstStyle/>
          <a:p>
            <a:pPr algn="l">
              <a:spcAft>
                <a:spcPts val="800"/>
              </a:spcAft>
              <a:defRPr sz="1300" b="1">
                <a:solidFill>
                  <a:srgbClr val="B9A6FF"/>
                </a:solidFill>
                <a:latin typeface="Arial"/>
              </a:defRPr>
            </a:pPr>
            <a:r>
              <a:t>01</a:t>
            </a:r>
          </a:p>
        </p:txBody>
      </p:sp>
      <p:sp>
        <p:nvSpPr>
          <p:cNvPr id="22" name="TextBox 21"/>
          <p:cNvSpPr txBox="1"/>
          <p:nvPr/>
        </p:nvSpPr>
        <p:spPr>
          <a:xfrm>
            <a:off x="6903720" y="3163824"/>
            <a:ext cx="4297680" cy="365760"/>
          </a:xfrm>
          <a:prstGeom prst="rect">
            <a:avLst/>
          </a:prstGeom>
          <a:noFill/>
        </p:spPr>
        <p:txBody>
          <a:bodyPr wrap="square" lIns="0" rIns="0" tIns="0" bIns="0">
            <a:spAutoFit/>
          </a:bodyPr>
          <a:lstStyle/>
          <a:p>
            <a:pPr algn="l">
              <a:spcAft>
                <a:spcPts val="800"/>
              </a:spcAft>
              <a:defRPr sz="2100" b="0">
                <a:solidFill>
                  <a:srgbClr val="F2F6FF"/>
                </a:solidFill>
                <a:latin typeface="Arial"/>
              </a:defRPr>
            </a:pPr>
            <a:r>
              <a:t>Total report submissions</a:t>
            </a:r>
          </a:p>
        </p:txBody>
      </p:sp>
      <p:sp>
        <p:nvSpPr>
          <p:cNvPr id="23" name="TextBox 22"/>
          <p:cNvSpPr txBox="1"/>
          <p:nvPr/>
        </p:nvSpPr>
        <p:spPr>
          <a:xfrm>
            <a:off x="6364224" y="3758184"/>
            <a:ext cx="411480" cy="274320"/>
          </a:xfrm>
          <a:prstGeom prst="rect">
            <a:avLst/>
          </a:prstGeom>
          <a:noFill/>
        </p:spPr>
        <p:txBody>
          <a:bodyPr wrap="square" lIns="0" rIns="0" tIns="0" bIns="0">
            <a:spAutoFit/>
          </a:bodyPr>
          <a:lstStyle/>
          <a:p>
            <a:pPr algn="l">
              <a:spcAft>
                <a:spcPts val="800"/>
              </a:spcAft>
              <a:defRPr sz="1300" b="1">
                <a:solidFill>
                  <a:srgbClr val="B9A6FF"/>
                </a:solidFill>
                <a:latin typeface="Arial"/>
              </a:defRPr>
            </a:pPr>
            <a:r>
              <a:t>02</a:t>
            </a:r>
          </a:p>
        </p:txBody>
      </p:sp>
      <p:sp>
        <p:nvSpPr>
          <p:cNvPr id="24" name="TextBox 23"/>
          <p:cNvSpPr txBox="1"/>
          <p:nvPr/>
        </p:nvSpPr>
        <p:spPr>
          <a:xfrm>
            <a:off x="6903720" y="3721608"/>
            <a:ext cx="4297680" cy="365760"/>
          </a:xfrm>
          <a:prstGeom prst="rect">
            <a:avLst/>
          </a:prstGeom>
          <a:noFill/>
        </p:spPr>
        <p:txBody>
          <a:bodyPr wrap="square" lIns="0" rIns="0" tIns="0" bIns="0">
            <a:spAutoFit/>
          </a:bodyPr>
          <a:lstStyle/>
          <a:p>
            <a:pPr algn="l">
              <a:spcAft>
                <a:spcPts val="800"/>
              </a:spcAft>
              <a:defRPr sz="2100" b="0">
                <a:solidFill>
                  <a:srgbClr val="F2F6FF"/>
                </a:solidFill>
                <a:latin typeface="Arial"/>
              </a:defRPr>
            </a:pPr>
            <a:r>
              <a:t>Categories and counts</a:t>
            </a:r>
          </a:p>
        </p:txBody>
      </p:sp>
      <p:sp>
        <p:nvSpPr>
          <p:cNvPr id="25" name="TextBox 24"/>
          <p:cNvSpPr txBox="1"/>
          <p:nvPr/>
        </p:nvSpPr>
        <p:spPr>
          <a:xfrm>
            <a:off x="6364224" y="4315968"/>
            <a:ext cx="411480" cy="274320"/>
          </a:xfrm>
          <a:prstGeom prst="rect">
            <a:avLst/>
          </a:prstGeom>
          <a:noFill/>
        </p:spPr>
        <p:txBody>
          <a:bodyPr wrap="square" lIns="0" rIns="0" tIns="0" bIns="0">
            <a:spAutoFit/>
          </a:bodyPr>
          <a:lstStyle/>
          <a:p>
            <a:pPr algn="l">
              <a:spcAft>
                <a:spcPts val="800"/>
              </a:spcAft>
              <a:defRPr sz="1300" b="1">
                <a:solidFill>
                  <a:srgbClr val="B9A6FF"/>
                </a:solidFill>
                <a:latin typeface="Arial"/>
              </a:defRPr>
            </a:pPr>
            <a:r>
              <a:t>03</a:t>
            </a:r>
          </a:p>
        </p:txBody>
      </p:sp>
      <p:sp>
        <p:nvSpPr>
          <p:cNvPr id="26" name="TextBox 25"/>
          <p:cNvSpPr txBox="1"/>
          <p:nvPr/>
        </p:nvSpPr>
        <p:spPr>
          <a:xfrm>
            <a:off x="6903720" y="4279392"/>
            <a:ext cx="4297680" cy="365760"/>
          </a:xfrm>
          <a:prstGeom prst="rect">
            <a:avLst/>
          </a:prstGeom>
          <a:noFill/>
        </p:spPr>
        <p:txBody>
          <a:bodyPr wrap="square" lIns="0" rIns="0" tIns="0" bIns="0">
            <a:spAutoFit/>
          </a:bodyPr>
          <a:lstStyle/>
          <a:p>
            <a:pPr algn="l">
              <a:spcAft>
                <a:spcPts val="800"/>
              </a:spcAft>
              <a:defRPr sz="2100" b="0">
                <a:solidFill>
                  <a:srgbClr val="F2F6FF"/>
                </a:solidFill>
                <a:latin typeface="Arial"/>
              </a:defRPr>
            </a:pPr>
            <a:r>
              <a:t>Most recent report date</a:t>
            </a:r>
          </a:p>
        </p:txBody>
      </p:sp>
      <p:sp>
        <p:nvSpPr>
          <p:cNvPr id="27" name="TextBox 26"/>
          <p:cNvSpPr txBox="1"/>
          <p:nvPr/>
        </p:nvSpPr>
        <p:spPr>
          <a:xfrm>
            <a:off x="6345936" y="4965192"/>
            <a:ext cx="4937760" cy="274320"/>
          </a:xfrm>
          <a:prstGeom prst="rect">
            <a:avLst/>
          </a:prstGeom>
          <a:noFill/>
        </p:spPr>
        <p:txBody>
          <a:bodyPr wrap="square" lIns="0" rIns="0" tIns="0" bIns="0">
            <a:spAutoFit/>
          </a:bodyPr>
          <a:lstStyle/>
          <a:p>
            <a:pPr algn="l">
              <a:spcAft>
                <a:spcPts val="800"/>
              </a:spcAft>
              <a:defRPr sz="1300" b="1">
                <a:solidFill>
                  <a:srgbClr val="FFD49B"/>
                </a:solidFill>
                <a:latin typeface="Arial"/>
              </a:defRPr>
            </a:pPr>
            <a:r>
              <a:t>Unverified reports are not proof of wrongdoing.</a:t>
            </a:r>
          </a:p>
        </p:txBody>
      </p:sp>
      <p:sp>
        <p:nvSpPr>
          <p:cNvPr id="28" name="Rounded Rectangle 27"/>
          <p:cNvSpPr/>
          <p:nvPr/>
        </p:nvSpPr>
        <p:spPr>
          <a:xfrm>
            <a:off x="667512" y="5870448"/>
            <a:ext cx="3493008" cy="310896"/>
          </a:xfrm>
          <a:prstGeom prst="roundRect">
            <a:avLst>
              <a:gd name="adj" fmla="val 35000"/>
            </a:avLst>
          </a:prstGeom>
          <a:solidFill>
            <a:srgbClr val="111E32"/>
          </a:solidFill>
          <a:ln w="10160">
            <a:solidFill>
              <a:srgbClr val="293A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77240" y="5939028"/>
            <a:ext cx="3273552" cy="210312"/>
          </a:xfrm>
          <a:prstGeom prst="rect">
            <a:avLst/>
          </a:prstGeom>
          <a:noFill/>
        </p:spPr>
        <p:txBody>
          <a:bodyPr wrap="square" lIns="0" rIns="0" tIns="0" bIns="0">
            <a:spAutoFit/>
          </a:bodyPr>
          <a:lstStyle/>
          <a:p>
            <a:pPr algn="l">
              <a:spcAft>
                <a:spcPts val="800"/>
              </a:spcAft>
              <a:defRPr sz="1000" b="1">
                <a:solidFill>
                  <a:srgbClr val="67EBDD"/>
                </a:solidFill>
                <a:latin typeface="Arial"/>
              </a:defRPr>
            </a:pPr>
            <a:r>
              <a:t>POSTGRESQL PERSISTENCE TESTED</a:t>
            </a:r>
          </a:p>
        </p:txBody>
      </p:sp>
      <p:sp>
        <p:nvSpPr>
          <p:cNvPr id="30" name="TextBox 29"/>
          <p:cNvSpPr txBox="1"/>
          <p:nvPr/>
        </p:nvSpPr>
        <p:spPr>
          <a:xfrm>
            <a:off x="4434840" y="5916168"/>
            <a:ext cx="7132320" cy="283464"/>
          </a:xfrm>
          <a:prstGeom prst="rect">
            <a:avLst/>
          </a:prstGeom>
          <a:noFill/>
        </p:spPr>
        <p:txBody>
          <a:bodyPr wrap="square" lIns="0" rIns="0" tIns="0" bIns="0">
            <a:spAutoFit/>
          </a:bodyPr>
          <a:lstStyle/>
          <a:p>
            <a:pPr algn="l">
              <a:spcAft>
                <a:spcPts val="800"/>
              </a:spcAft>
              <a:defRPr sz="1300" b="0">
                <a:solidFill>
                  <a:srgbClr val="A9B8CE"/>
                </a:solidFill>
                <a:latin typeface="Arial"/>
              </a:defRPr>
            </a:pPr>
            <a:r>
              <a:t>Duplicates controlled • Submission limits • No identity lookup</a:t>
            </a:r>
          </a:p>
        </p:txBody>
      </p:sp>
    </p:spTree>
  </p:cSld>
  <p:clrMapOvr>
    <a:masterClrMapping/>
  </p:clrMapOvr>
  <p:transition spd="med" advClick="1">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png"/>
          <p:cNvPicPr>
            <a:picLocks noChangeAspect="1"/>
          </p:cNvPicPr>
          <p:nvPr/>
        </p:nvPicPr>
        <p:blipFill>
          <a:blip r:embed="rId2"/>
          <a:stretch>
            <a:fillRect/>
          </a:stretch>
        </p:blipFill>
        <p:spPr>
          <a:xfrm>
            <a:off x="0" y="0"/>
            <a:ext cx="12191695" cy="6858000"/>
          </a:xfrm>
          <a:prstGeom prst="rect">
            <a:avLst/>
          </a:prstGeom>
        </p:spPr>
      </p:pic>
      <p:cxnSp>
        <p:nvCxnSpPr>
          <p:cNvPr id="3" name="Connector 2"/>
          <p:cNvCxnSpPr/>
          <p:nvPr/>
        </p:nvCxnSpPr>
        <p:spPr>
          <a:xfrm>
            <a:off x="594360" y="6428232"/>
            <a:ext cx="11000232" cy="0"/>
          </a:xfrm>
          <a:prstGeom prst="line">
            <a:avLst/>
          </a:prstGeom>
          <a:ln w="7620">
            <a:solidFill>
              <a:srgbClr val="293A53"/>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12648" y="6547104"/>
            <a:ext cx="5486400" cy="164592"/>
          </a:xfrm>
          <a:prstGeom prst="rect">
            <a:avLst/>
          </a:prstGeom>
          <a:noFill/>
        </p:spPr>
        <p:txBody>
          <a:bodyPr wrap="square" lIns="0" rIns="0" tIns="0" bIns="0">
            <a:spAutoFit/>
          </a:bodyPr>
          <a:lstStyle/>
          <a:p>
            <a:pPr algn="l">
              <a:spcAft>
                <a:spcPts val="800"/>
              </a:spcAft>
              <a:defRPr sz="900" b="1">
                <a:solidFill>
                  <a:srgbClr val="A9B8CE"/>
                </a:solidFill>
                <a:latin typeface="Arial"/>
              </a:defRPr>
            </a:pPr>
            <a:r>
              <a:t>ECHOGUARD  /  UNCLONE AI</a:t>
            </a:r>
          </a:p>
        </p:txBody>
      </p:sp>
      <p:sp>
        <p:nvSpPr>
          <p:cNvPr id="5" name="TextBox 4"/>
          <p:cNvSpPr txBox="1"/>
          <p:nvPr/>
        </p:nvSpPr>
        <p:spPr>
          <a:xfrm>
            <a:off x="7772400" y="6547104"/>
            <a:ext cx="3291840" cy="182880"/>
          </a:xfrm>
          <a:prstGeom prst="rect">
            <a:avLst/>
          </a:prstGeom>
          <a:noFill/>
        </p:spPr>
        <p:txBody>
          <a:bodyPr wrap="square" lIns="0" rIns="0" tIns="0" bIns="0">
            <a:spAutoFit/>
          </a:bodyPr>
          <a:lstStyle/>
          <a:p>
            <a:pPr algn="r">
              <a:spcAft>
                <a:spcPts val="800"/>
              </a:spcAft>
              <a:defRPr sz="900" b="0">
                <a:solidFill>
                  <a:srgbClr val="A9B8CE"/>
                </a:solidFill>
                <a:latin typeface="Arial"/>
              </a:defRPr>
            </a:pPr>
            <a:r>
              <a:t>ENGINEERING &amp; VALIDATION</a:t>
            </a:r>
          </a:p>
        </p:txBody>
      </p:sp>
      <p:sp>
        <p:nvSpPr>
          <p:cNvPr id="6" name="TextBox 5"/>
          <p:cNvSpPr txBox="1"/>
          <p:nvPr/>
        </p:nvSpPr>
        <p:spPr>
          <a:xfrm>
            <a:off x="11210544" y="6510528"/>
            <a:ext cx="365760" cy="219456"/>
          </a:xfrm>
          <a:prstGeom prst="rect">
            <a:avLst/>
          </a:prstGeom>
          <a:noFill/>
        </p:spPr>
        <p:txBody>
          <a:bodyPr wrap="square" lIns="0" rIns="0" tIns="0" bIns="0">
            <a:spAutoFit/>
          </a:bodyPr>
          <a:lstStyle/>
          <a:p>
            <a:pPr algn="r">
              <a:spcAft>
                <a:spcPts val="800"/>
              </a:spcAft>
              <a:defRPr sz="1200" b="1">
                <a:solidFill>
                  <a:srgbClr val="67EBDD"/>
                </a:solidFill>
                <a:latin typeface="Arial"/>
              </a:defRPr>
            </a:pPr>
            <a:r>
              <a:t>07</a:t>
            </a:r>
          </a:p>
        </p:txBody>
      </p:sp>
      <p:sp>
        <p:nvSpPr>
          <p:cNvPr id="7" name="TextBox 6"/>
          <p:cNvSpPr txBox="1"/>
          <p:nvPr/>
        </p:nvSpPr>
        <p:spPr>
          <a:xfrm>
            <a:off x="594360" y="393192"/>
            <a:ext cx="10058400" cy="228600"/>
          </a:xfrm>
          <a:prstGeom prst="rect">
            <a:avLst/>
          </a:prstGeom>
          <a:noFill/>
        </p:spPr>
        <p:txBody>
          <a:bodyPr wrap="square" lIns="0" rIns="0" tIns="0" bIns="0">
            <a:spAutoFit/>
          </a:bodyPr>
          <a:lstStyle/>
          <a:p>
            <a:pPr algn="l">
              <a:spcAft>
                <a:spcPts val="800"/>
              </a:spcAft>
              <a:defRPr sz="1100" b="1">
                <a:solidFill>
                  <a:srgbClr val="67EBDD"/>
                </a:solidFill>
                <a:latin typeface="Arial"/>
              </a:defRPr>
            </a:pPr>
            <a:r>
              <a:t>06 / BUILT TO BE EXPLAINABLE</a:t>
            </a:r>
          </a:p>
        </p:txBody>
      </p:sp>
      <p:sp>
        <p:nvSpPr>
          <p:cNvPr id="8" name="TextBox 7"/>
          <p:cNvSpPr txBox="1"/>
          <p:nvPr/>
        </p:nvSpPr>
        <p:spPr>
          <a:xfrm>
            <a:off x="594360" y="868680"/>
            <a:ext cx="10972800" cy="1024128"/>
          </a:xfrm>
          <a:prstGeom prst="rect">
            <a:avLst/>
          </a:prstGeom>
          <a:noFill/>
        </p:spPr>
        <p:txBody>
          <a:bodyPr wrap="square" lIns="0" rIns="0" tIns="0" bIns="0">
            <a:spAutoFit/>
          </a:bodyPr>
          <a:lstStyle/>
          <a:p>
            <a:pPr algn="l">
              <a:spcAft>
                <a:spcPts val="800"/>
              </a:spcAft>
              <a:defRPr sz="3400" b="1">
                <a:solidFill>
                  <a:srgbClr val="F2F6FF"/>
                </a:solidFill>
                <a:latin typeface="Arial"/>
              </a:defRPr>
            </a:pPr>
            <a:r>
              <a:t>Simple architecture. Honest failure states.</a:t>
            </a:r>
          </a:p>
        </p:txBody>
      </p:sp>
      <p:sp>
        <p:nvSpPr>
          <p:cNvPr id="9" name="Rounded Rectangle 8"/>
          <p:cNvSpPr/>
          <p:nvPr/>
        </p:nvSpPr>
        <p:spPr>
          <a:xfrm>
            <a:off x="612648" y="2350008"/>
            <a:ext cx="2331720" cy="1143000"/>
          </a:xfrm>
          <a:prstGeom prst="roundRect">
            <a:avLst>
              <a:gd name="adj" fmla="val 15000"/>
            </a:avLst>
          </a:prstGeom>
          <a:solidFill>
            <a:srgbClr val="111E32"/>
          </a:solidFill>
          <a:ln w="10160">
            <a:solidFill>
              <a:srgbClr val="293A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2642616"/>
            <a:ext cx="1938528" cy="274320"/>
          </a:xfrm>
          <a:prstGeom prst="rect">
            <a:avLst/>
          </a:prstGeom>
          <a:noFill/>
        </p:spPr>
        <p:txBody>
          <a:bodyPr wrap="square" lIns="0" rIns="0" tIns="0" bIns="0">
            <a:spAutoFit/>
          </a:bodyPr>
          <a:lstStyle/>
          <a:p>
            <a:pPr algn="l">
              <a:spcAft>
                <a:spcPts val="800"/>
              </a:spcAft>
              <a:defRPr sz="1700" b="1">
                <a:solidFill>
                  <a:srgbClr val="F2F6FF"/>
                </a:solidFill>
                <a:latin typeface="Arial"/>
              </a:defRPr>
            </a:pPr>
            <a:r>
              <a:t>WEB INTERFACE</a:t>
            </a:r>
          </a:p>
        </p:txBody>
      </p:sp>
      <p:sp>
        <p:nvSpPr>
          <p:cNvPr id="11" name="TextBox 10"/>
          <p:cNvSpPr txBox="1"/>
          <p:nvPr/>
        </p:nvSpPr>
        <p:spPr>
          <a:xfrm>
            <a:off x="804672" y="3063240"/>
            <a:ext cx="1938528" cy="256032"/>
          </a:xfrm>
          <a:prstGeom prst="rect">
            <a:avLst/>
          </a:prstGeom>
          <a:noFill/>
        </p:spPr>
        <p:txBody>
          <a:bodyPr wrap="square" lIns="0" rIns="0" tIns="0" bIns="0">
            <a:spAutoFit/>
          </a:bodyPr>
          <a:lstStyle/>
          <a:p>
            <a:pPr algn="l">
              <a:spcAft>
                <a:spcPts val="800"/>
              </a:spcAft>
              <a:defRPr sz="1200" b="0">
                <a:solidFill>
                  <a:srgbClr val="A9B8CE"/>
                </a:solidFill>
                <a:latin typeface="Arial"/>
              </a:defRPr>
            </a:pPr>
            <a:r>
              <a:t>HTML / CSS / JavaScript</a:t>
            </a:r>
          </a:p>
        </p:txBody>
      </p:sp>
      <p:cxnSp>
        <p:nvCxnSpPr>
          <p:cNvPr id="12" name="Connector 11"/>
          <p:cNvCxnSpPr/>
          <p:nvPr/>
        </p:nvCxnSpPr>
        <p:spPr>
          <a:xfrm>
            <a:off x="3081528" y="2926080"/>
            <a:ext cx="292608" cy="0"/>
          </a:xfrm>
          <a:prstGeom prst="line">
            <a:avLst/>
          </a:prstGeom>
          <a:ln w="2286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300984" y="2862072"/>
            <a:ext cx="73152" cy="64008"/>
          </a:xfrm>
          <a:prstGeom prst="line">
            <a:avLst/>
          </a:prstGeom>
          <a:ln w="2286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V="1">
            <a:off x="3300984" y="2926080"/>
            <a:ext cx="73152" cy="64008"/>
          </a:xfrm>
          <a:prstGeom prst="line">
            <a:avLst/>
          </a:prstGeom>
          <a:ln w="22860">
            <a:solidFill>
              <a:srgbClr val="67EBDD"/>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529584" y="2350008"/>
            <a:ext cx="2331720" cy="1143000"/>
          </a:xfrm>
          <a:prstGeom prst="roundRect">
            <a:avLst>
              <a:gd name="adj" fmla="val 15000"/>
            </a:avLst>
          </a:prstGeom>
          <a:solidFill>
            <a:srgbClr val="111E32"/>
          </a:solidFill>
          <a:ln w="10160">
            <a:solidFill>
              <a:srgbClr val="293A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30752" y="2642616"/>
            <a:ext cx="1920240" cy="274320"/>
          </a:xfrm>
          <a:prstGeom prst="rect">
            <a:avLst/>
          </a:prstGeom>
          <a:noFill/>
        </p:spPr>
        <p:txBody>
          <a:bodyPr wrap="square" lIns="0" rIns="0" tIns="0" bIns="0">
            <a:spAutoFit/>
          </a:bodyPr>
          <a:lstStyle/>
          <a:p>
            <a:pPr algn="l">
              <a:spcAft>
                <a:spcPts val="800"/>
              </a:spcAft>
              <a:defRPr sz="1700" b="1">
                <a:solidFill>
                  <a:srgbClr val="67EBDD"/>
                </a:solidFill>
                <a:latin typeface="Arial"/>
              </a:defRPr>
            </a:pPr>
            <a:r>
              <a:t>EXPRESS API</a:t>
            </a:r>
          </a:p>
        </p:txBody>
      </p:sp>
      <p:sp>
        <p:nvSpPr>
          <p:cNvPr id="17" name="TextBox 16"/>
          <p:cNvSpPr txBox="1"/>
          <p:nvPr/>
        </p:nvSpPr>
        <p:spPr>
          <a:xfrm>
            <a:off x="3730752" y="3063240"/>
            <a:ext cx="1920240" cy="256032"/>
          </a:xfrm>
          <a:prstGeom prst="rect">
            <a:avLst/>
          </a:prstGeom>
          <a:noFill/>
        </p:spPr>
        <p:txBody>
          <a:bodyPr wrap="square" lIns="0" rIns="0" tIns="0" bIns="0">
            <a:spAutoFit/>
          </a:bodyPr>
          <a:lstStyle/>
          <a:p>
            <a:pPr algn="l">
              <a:spcAft>
                <a:spcPts val="800"/>
              </a:spcAft>
              <a:defRPr sz="1100" b="0">
                <a:solidFill>
                  <a:srgbClr val="A9B8CE"/>
                </a:solidFill>
                <a:latin typeface="Arial"/>
              </a:defRPr>
            </a:pPr>
            <a:r>
              <a:t>Validation + secure requests</a:t>
            </a:r>
          </a:p>
        </p:txBody>
      </p:sp>
      <p:cxnSp>
        <p:nvCxnSpPr>
          <p:cNvPr id="18" name="Connector 17"/>
          <p:cNvCxnSpPr/>
          <p:nvPr/>
        </p:nvCxnSpPr>
        <p:spPr>
          <a:xfrm>
            <a:off x="5870448" y="2926080"/>
            <a:ext cx="566928" cy="0"/>
          </a:xfrm>
          <a:prstGeom prst="line">
            <a:avLst/>
          </a:prstGeom>
          <a:ln w="1651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437376" y="2377440"/>
            <a:ext cx="0" cy="1600199"/>
          </a:xfrm>
          <a:prstGeom prst="line">
            <a:avLst/>
          </a:prstGeom>
          <a:ln w="16510">
            <a:solidFill>
              <a:srgbClr val="67EBD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437376" y="2404872"/>
            <a:ext cx="420624" cy="0"/>
          </a:xfrm>
          <a:prstGeom prst="line">
            <a:avLst/>
          </a:prstGeom>
          <a:ln w="16510">
            <a:solidFill>
              <a:srgbClr val="67EBDD"/>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858000" y="2057400"/>
            <a:ext cx="4727448" cy="694944"/>
          </a:xfrm>
          <a:prstGeom prst="roundRect">
            <a:avLst>
              <a:gd name="adj" fmla="val 15000"/>
            </a:avLst>
          </a:prstGeom>
          <a:solidFill>
            <a:srgbClr val="111E32"/>
          </a:solidFill>
          <a:ln w="10160">
            <a:solidFill>
              <a:srgbClr val="293A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068312" y="2185416"/>
            <a:ext cx="2029968" cy="237744"/>
          </a:xfrm>
          <a:prstGeom prst="rect">
            <a:avLst/>
          </a:prstGeom>
          <a:noFill/>
        </p:spPr>
        <p:txBody>
          <a:bodyPr wrap="square" lIns="0" rIns="0" tIns="0" bIns="0">
            <a:spAutoFit/>
          </a:bodyPr>
          <a:lstStyle/>
          <a:p>
            <a:pPr algn="l">
              <a:spcAft>
                <a:spcPts val="800"/>
              </a:spcAft>
              <a:defRPr sz="1300" b="1">
                <a:solidFill>
                  <a:srgbClr val="B9A6FF"/>
                </a:solidFill>
                <a:latin typeface="Arial"/>
              </a:defRPr>
            </a:pPr>
            <a:r>
              <a:t>LOCAL TEXT RULES</a:t>
            </a:r>
          </a:p>
        </p:txBody>
      </p:sp>
      <p:sp>
        <p:nvSpPr>
          <p:cNvPr id="23" name="TextBox 22"/>
          <p:cNvSpPr txBox="1"/>
          <p:nvPr/>
        </p:nvSpPr>
        <p:spPr>
          <a:xfrm>
            <a:off x="9198864" y="2194560"/>
            <a:ext cx="2194560" cy="265176"/>
          </a:xfrm>
          <a:prstGeom prst="rect">
            <a:avLst/>
          </a:prstGeom>
          <a:noFill/>
        </p:spPr>
        <p:txBody>
          <a:bodyPr wrap="square" lIns="0" rIns="0" tIns="0" bIns="0">
            <a:spAutoFit/>
          </a:bodyPr>
          <a:lstStyle/>
          <a:p>
            <a:pPr algn="l">
              <a:spcAft>
                <a:spcPts val="800"/>
              </a:spcAft>
              <a:defRPr sz="1100" b="0">
                <a:solidFill>
                  <a:srgbClr val="A9B8CE"/>
                </a:solidFill>
                <a:latin typeface="Arial"/>
              </a:defRPr>
            </a:pPr>
            <a:r>
              <a:t>No external text API</a:t>
            </a:r>
          </a:p>
        </p:txBody>
      </p:sp>
      <p:cxnSp>
        <p:nvCxnSpPr>
          <p:cNvPr id="24" name="Connector 23"/>
          <p:cNvCxnSpPr/>
          <p:nvPr/>
        </p:nvCxnSpPr>
        <p:spPr>
          <a:xfrm>
            <a:off x="6437376" y="3264408"/>
            <a:ext cx="420624" cy="0"/>
          </a:xfrm>
          <a:prstGeom prst="line">
            <a:avLst/>
          </a:prstGeom>
          <a:ln w="16510">
            <a:solidFill>
              <a:srgbClr val="67EBDD"/>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858000" y="2916936"/>
            <a:ext cx="4727448" cy="694944"/>
          </a:xfrm>
          <a:prstGeom prst="roundRect">
            <a:avLst>
              <a:gd name="adj" fmla="val 15000"/>
            </a:avLst>
          </a:prstGeom>
          <a:solidFill>
            <a:srgbClr val="111E32"/>
          </a:solidFill>
          <a:ln w="10160">
            <a:solidFill>
              <a:srgbClr val="293A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068312" y="3044952"/>
            <a:ext cx="2029968" cy="237744"/>
          </a:xfrm>
          <a:prstGeom prst="rect">
            <a:avLst/>
          </a:prstGeom>
          <a:noFill/>
        </p:spPr>
        <p:txBody>
          <a:bodyPr wrap="square" lIns="0" rIns="0" tIns="0" bIns="0">
            <a:spAutoFit/>
          </a:bodyPr>
          <a:lstStyle/>
          <a:p>
            <a:pPr algn="l">
              <a:spcAft>
                <a:spcPts val="800"/>
              </a:spcAft>
              <a:defRPr sz="1300" b="1">
                <a:solidFill>
                  <a:srgbClr val="67EBDD"/>
                </a:solidFill>
                <a:latin typeface="Arial"/>
              </a:defRPr>
            </a:pPr>
            <a:r>
              <a:t>DETECTIFAI</a:t>
            </a:r>
          </a:p>
        </p:txBody>
      </p:sp>
      <p:sp>
        <p:nvSpPr>
          <p:cNvPr id="27" name="TextBox 26"/>
          <p:cNvSpPr txBox="1"/>
          <p:nvPr/>
        </p:nvSpPr>
        <p:spPr>
          <a:xfrm>
            <a:off x="9198864" y="3054096"/>
            <a:ext cx="2194560" cy="265176"/>
          </a:xfrm>
          <a:prstGeom prst="rect">
            <a:avLst/>
          </a:prstGeom>
          <a:noFill/>
        </p:spPr>
        <p:txBody>
          <a:bodyPr wrap="square" lIns="0" rIns="0" tIns="0" bIns="0">
            <a:spAutoFit/>
          </a:bodyPr>
          <a:lstStyle/>
          <a:p>
            <a:pPr algn="l">
              <a:spcAft>
                <a:spcPts val="800"/>
              </a:spcAft>
              <a:defRPr sz="1100" b="0">
                <a:solidFill>
                  <a:srgbClr val="A9B8CE"/>
                </a:solidFill>
                <a:latin typeface="Arial"/>
              </a:defRPr>
            </a:pPr>
            <a:r>
              <a:t>Voice-authenticity adapter</a:t>
            </a:r>
          </a:p>
        </p:txBody>
      </p:sp>
      <p:cxnSp>
        <p:nvCxnSpPr>
          <p:cNvPr id="28" name="Connector 27"/>
          <p:cNvCxnSpPr/>
          <p:nvPr/>
        </p:nvCxnSpPr>
        <p:spPr>
          <a:xfrm>
            <a:off x="6437376" y="4123944"/>
            <a:ext cx="420624" cy="0"/>
          </a:xfrm>
          <a:prstGeom prst="line">
            <a:avLst/>
          </a:prstGeom>
          <a:ln w="16510">
            <a:solidFill>
              <a:srgbClr val="67EBDD"/>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858000" y="3776472"/>
            <a:ext cx="4727448" cy="694944"/>
          </a:xfrm>
          <a:prstGeom prst="roundRect">
            <a:avLst>
              <a:gd name="adj" fmla="val 15000"/>
            </a:avLst>
          </a:prstGeom>
          <a:solidFill>
            <a:srgbClr val="111E32"/>
          </a:solidFill>
          <a:ln w="10160">
            <a:solidFill>
              <a:srgbClr val="293A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068312" y="3904487"/>
            <a:ext cx="2029968" cy="237744"/>
          </a:xfrm>
          <a:prstGeom prst="rect">
            <a:avLst/>
          </a:prstGeom>
          <a:noFill/>
        </p:spPr>
        <p:txBody>
          <a:bodyPr wrap="square" lIns="0" rIns="0" tIns="0" bIns="0">
            <a:spAutoFit/>
          </a:bodyPr>
          <a:lstStyle/>
          <a:p>
            <a:pPr algn="l">
              <a:spcAft>
                <a:spcPts val="800"/>
              </a:spcAft>
              <a:defRPr sz="1300" b="1">
                <a:solidFill>
                  <a:srgbClr val="FFD49B"/>
                </a:solidFill>
                <a:latin typeface="Arial"/>
              </a:defRPr>
            </a:pPr>
            <a:r>
              <a:t>POSTGRESQL</a:t>
            </a:r>
          </a:p>
        </p:txBody>
      </p:sp>
      <p:sp>
        <p:nvSpPr>
          <p:cNvPr id="31" name="TextBox 30"/>
          <p:cNvSpPr txBox="1"/>
          <p:nvPr/>
        </p:nvSpPr>
        <p:spPr>
          <a:xfrm>
            <a:off x="9198864" y="3913632"/>
            <a:ext cx="2194560" cy="265176"/>
          </a:xfrm>
          <a:prstGeom prst="rect">
            <a:avLst/>
          </a:prstGeom>
          <a:noFill/>
        </p:spPr>
        <p:txBody>
          <a:bodyPr wrap="square" lIns="0" rIns="0" tIns="0" bIns="0">
            <a:spAutoFit/>
          </a:bodyPr>
          <a:lstStyle/>
          <a:p>
            <a:pPr algn="l">
              <a:spcAft>
                <a:spcPts val="800"/>
              </a:spcAft>
              <a:defRPr sz="1100" b="0">
                <a:solidFill>
                  <a:srgbClr val="A9B8CE"/>
                </a:solidFill>
                <a:latin typeface="Arial"/>
              </a:defRPr>
            </a:pPr>
            <a:r>
              <a:t>Persistent community reports</a:t>
            </a:r>
          </a:p>
        </p:txBody>
      </p:sp>
      <p:cxnSp>
        <p:nvCxnSpPr>
          <p:cNvPr id="32" name="Connector 31"/>
          <p:cNvCxnSpPr/>
          <p:nvPr/>
        </p:nvCxnSpPr>
        <p:spPr>
          <a:xfrm>
            <a:off x="640080" y="4791456"/>
            <a:ext cx="10927080" cy="0"/>
          </a:xfrm>
          <a:prstGeom prst="line">
            <a:avLst/>
          </a:prstGeom>
          <a:ln w="12700">
            <a:solidFill>
              <a:srgbClr val="293A53"/>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67512" y="5093208"/>
            <a:ext cx="1280160" cy="749808"/>
          </a:xfrm>
          <a:prstGeom prst="rect">
            <a:avLst/>
          </a:prstGeom>
          <a:noFill/>
        </p:spPr>
        <p:txBody>
          <a:bodyPr wrap="square" lIns="0" rIns="0" tIns="0" bIns="0">
            <a:spAutoFit/>
          </a:bodyPr>
          <a:lstStyle/>
          <a:p>
            <a:pPr algn="l">
              <a:spcAft>
                <a:spcPts val="800"/>
              </a:spcAft>
              <a:defRPr sz="4600" b="1">
                <a:solidFill>
                  <a:srgbClr val="67EBDD"/>
                </a:solidFill>
                <a:latin typeface="Arial"/>
              </a:defRPr>
            </a:pPr>
            <a:r>
              <a:t>76</a:t>
            </a:r>
          </a:p>
        </p:txBody>
      </p:sp>
      <p:sp>
        <p:nvSpPr>
          <p:cNvPr id="34" name="TextBox 33"/>
          <p:cNvSpPr txBox="1"/>
          <p:nvPr/>
        </p:nvSpPr>
        <p:spPr>
          <a:xfrm>
            <a:off x="1965960" y="5394960"/>
            <a:ext cx="3291840" cy="347472"/>
          </a:xfrm>
          <a:prstGeom prst="rect">
            <a:avLst/>
          </a:prstGeom>
          <a:noFill/>
        </p:spPr>
        <p:txBody>
          <a:bodyPr wrap="square" lIns="0" rIns="0" tIns="0" bIns="0">
            <a:spAutoFit/>
          </a:bodyPr>
          <a:lstStyle/>
          <a:p>
            <a:pPr algn="l">
              <a:spcAft>
                <a:spcPts val="800"/>
              </a:spcAft>
              <a:defRPr sz="1700" b="0">
                <a:solidFill>
                  <a:srgbClr val="F2F6FF"/>
                </a:solidFill>
                <a:latin typeface="Arial"/>
              </a:defRPr>
            </a:pPr>
            <a:r>
              <a:t>automated tests passed</a:t>
            </a:r>
          </a:p>
        </p:txBody>
      </p:sp>
      <p:sp>
        <p:nvSpPr>
          <p:cNvPr id="35" name="TextBox 34"/>
          <p:cNvSpPr txBox="1"/>
          <p:nvPr/>
        </p:nvSpPr>
        <p:spPr>
          <a:xfrm>
            <a:off x="5824728" y="5084064"/>
            <a:ext cx="2468880" cy="228600"/>
          </a:xfrm>
          <a:prstGeom prst="rect">
            <a:avLst/>
          </a:prstGeom>
          <a:noFill/>
        </p:spPr>
        <p:txBody>
          <a:bodyPr wrap="square" lIns="0" rIns="0" tIns="0" bIns="0">
            <a:spAutoFit/>
          </a:bodyPr>
          <a:lstStyle/>
          <a:p>
            <a:pPr algn="l">
              <a:spcAft>
                <a:spcPts val="800"/>
              </a:spcAft>
              <a:defRPr sz="1100" b="1">
                <a:solidFill>
                  <a:srgbClr val="B9A6FF"/>
                </a:solidFill>
                <a:latin typeface="Arial"/>
              </a:defRPr>
            </a:pPr>
            <a:r>
              <a:t>VERIFIED</a:t>
            </a:r>
          </a:p>
        </p:txBody>
      </p:sp>
      <p:sp>
        <p:nvSpPr>
          <p:cNvPr id="36" name="TextBox 35"/>
          <p:cNvSpPr txBox="1"/>
          <p:nvPr/>
        </p:nvSpPr>
        <p:spPr>
          <a:xfrm>
            <a:off x="5824728" y="5486400"/>
            <a:ext cx="3108960" cy="576072"/>
          </a:xfrm>
          <a:prstGeom prst="rect">
            <a:avLst/>
          </a:prstGeom>
          <a:noFill/>
        </p:spPr>
        <p:txBody>
          <a:bodyPr wrap="square" lIns="0" rIns="0" tIns="0" bIns="0">
            <a:spAutoFit/>
          </a:bodyPr>
          <a:lstStyle/>
          <a:p>
            <a:pPr algn="l">
              <a:spcAft>
                <a:spcPts val="800"/>
              </a:spcAft>
              <a:defRPr sz="1500" b="0">
                <a:solidFill>
                  <a:srgbClr val="F2F6FF"/>
                </a:solidFill>
                <a:latin typeface="Arial"/>
              </a:defRPr>
            </a:pPr>
            <a:r>
              <a:t>Browser + accessibility checks</a:t>
            </a:r>
          </a:p>
          <a:p>
            <a:pPr algn="l">
              <a:spcAft>
                <a:spcPts val="800"/>
              </a:spcAft>
              <a:defRPr sz="1500" b="0">
                <a:solidFill>
                  <a:srgbClr val="F2F6FF"/>
                </a:solidFill>
                <a:latin typeface="Arial"/>
              </a:defRPr>
            </a:pPr>
            <a:r>
              <a:t>Real PostgreSQL integration</a:t>
            </a:r>
          </a:p>
        </p:txBody>
      </p:sp>
      <p:sp>
        <p:nvSpPr>
          <p:cNvPr id="37" name="TextBox 36"/>
          <p:cNvSpPr txBox="1"/>
          <p:nvPr/>
        </p:nvSpPr>
        <p:spPr>
          <a:xfrm>
            <a:off x="9244584" y="5084064"/>
            <a:ext cx="2331720" cy="228600"/>
          </a:xfrm>
          <a:prstGeom prst="rect">
            <a:avLst/>
          </a:prstGeom>
          <a:noFill/>
        </p:spPr>
        <p:txBody>
          <a:bodyPr wrap="square" lIns="0" rIns="0" tIns="0" bIns="0">
            <a:spAutoFit/>
          </a:bodyPr>
          <a:lstStyle/>
          <a:p>
            <a:pPr algn="l">
              <a:spcAft>
                <a:spcPts val="800"/>
              </a:spcAft>
              <a:defRPr sz="1100" b="1">
                <a:solidFill>
                  <a:srgbClr val="FFD49B"/>
                </a:solidFill>
                <a:latin typeface="Arial"/>
              </a:defRPr>
            </a:pPr>
            <a:r>
              <a:t>NEXT TO ENABLE</a:t>
            </a:r>
          </a:p>
        </p:txBody>
      </p:sp>
      <p:sp>
        <p:nvSpPr>
          <p:cNvPr id="38" name="TextBox 37"/>
          <p:cNvSpPr txBox="1"/>
          <p:nvPr/>
        </p:nvSpPr>
        <p:spPr>
          <a:xfrm>
            <a:off x="9244584" y="5486400"/>
            <a:ext cx="2468880" cy="576072"/>
          </a:xfrm>
          <a:prstGeom prst="rect">
            <a:avLst/>
          </a:prstGeom>
          <a:noFill/>
        </p:spPr>
        <p:txBody>
          <a:bodyPr wrap="square" lIns="0" rIns="0" tIns="0" bIns="0">
            <a:spAutoFit/>
          </a:bodyPr>
          <a:lstStyle/>
          <a:p>
            <a:pPr algn="l">
              <a:spcAft>
                <a:spcPts val="800"/>
              </a:spcAft>
              <a:defRPr sz="1400" b="0">
                <a:solidFill>
                  <a:srgbClr val="A9B8CE"/>
                </a:solidFill>
                <a:latin typeface="Arial"/>
              </a:defRPr>
            </a:pPr>
            <a:r>
              <a:t>Live provider credentials</a:t>
            </a:r>
          </a:p>
          <a:p>
            <a:pPr algn="l">
              <a:spcAft>
                <a:spcPts val="800"/>
              </a:spcAft>
              <a:defRPr sz="1400" b="0">
                <a:solidFill>
                  <a:srgbClr val="A9B8CE"/>
                </a:solidFill>
                <a:latin typeface="Arial"/>
              </a:defRPr>
            </a:pPr>
            <a:r>
              <a:t>Hosted database setup</a:t>
            </a:r>
          </a:p>
        </p:txBody>
      </p:sp>
    </p:spTree>
  </p:cSld>
  <p:clrMapOvr>
    <a:masterClrMapping/>
  </p:clrMapOvr>
  <p:transition spd="med" advClick="1">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ackground.png"/>
          <p:cNvPicPr>
            <a:picLocks noChangeAspect="1"/>
          </p:cNvPicPr>
          <p:nvPr/>
        </p:nvPicPr>
        <p:blipFill>
          <a:blip r:embed="rId2"/>
          <a:stretch>
            <a:fillRect/>
          </a:stretch>
        </p:blipFill>
        <p:spPr>
          <a:xfrm>
            <a:off x="0" y="0"/>
            <a:ext cx="12191695" cy="6858000"/>
          </a:xfrm>
          <a:prstGeom prst="rect">
            <a:avLst/>
          </a:prstGeom>
        </p:spPr>
      </p:pic>
      <p:cxnSp>
        <p:nvCxnSpPr>
          <p:cNvPr id="3" name="Connector 2"/>
          <p:cNvCxnSpPr/>
          <p:nvPr/>
        </p:nvCxnSpPr>
        <p:spPr>
          <a:xfrm>
            <a:off x="594360" y="6428232"/>
            <a:ext cx="11000232" cy="0"/>
          </a:xfrm>
          <a:prstGeom prst="line">
            <a:avLst/>
          </a:prstGeom>
          <a:ln w="7620">
            <a:solidFill>
              <a:srgbClr val="293A53"/>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612648" y="6547104"/>
            <a:ext cx="5486400" cy="164592"/>
          </a:xfrm>
          <a:prstGeom prst="rect">
            <a:avLst/>
          </a:prstGeom>
          <a:noFill/>
        </p:spPr>
        <p:txBody>
          <a:bodyPr wrap="square" lIns="0" rIns="0" tIns="0" bIns="0">
            <a:spAutoFit/>
          </a:bodyPr>
          <a:lstStyle/>
          <a:p>
            <a:pPr algn="l">
              <a:spcAft>
                <a:spcPts val="800"/>
              </a:spcAft>
              <a:defRPr sz="900" b="1">
                <a:solidFill>
                  <a:srgbClr val="A9B8CE"/>
                </a:solidFill>
                <a:latin typeface="Arial"/>
              </a:defRPr>
            </a:pPr>
            <a:r>
              <a:t>ECHOGUARD  /  UNCLONE AI</a:t>
            </a:r>
          </a:p>
        </p:txBody>
      </p:sp>
      <p:sp>
        <p:nvSpPr>
          <p:cNvPr id="5" name="TextBox 4"/>
          <p:cNvSpPr txBox="1"/>
          <p:nvPr/>
        </p:nvSpPr>
        <p:spPr>
          <a:xfrm>
            <a:off x="7772400" y="6547104"/>
            <a:ext cx="3291840" cy="182880"/>
          </a:xfrm>
          <a:prstGeom prst="rect">
            <a:avLst/>
          </a:prstGeom>
          <a:noFill/>
        </p:spPr>
        <p:txBody>
          <a:bodyPr wrap="square" lIns="0" rIns="0" tIns="0" bIns="0">
            <a:spAutoFit/>
          </a:bodyPr>
          <a:lstStyle/>
          <a:p>
            <a:pPr algn="r">
              <a:spcAft>
                <a:spcPts val="800"/>
              </a:spcAft>
              <a:defRPr sz="900" b="0">
                <a:solidFill>
                  <a:srgbClr val="A9B8CE"/>
                </a:solidFill>
                <a:latin typeface="Arial"/>
              </a:defRPr>
            </a:pPr>
            <a:r>
              <a:t>THANK YOU</a:t>
            </a:r>
          </a:p>
        </p:txBody>
      </p:sp>
      <p:sp>
        <p:nvSpPr>
          <p:cNvPr id="6" name="TextBox 5"/>
          <p:cNvSpPr txBox="1"/>
          <p:nvPr/>
        </p:nvSpPr>
        <p:spPr>
          <a:xfrm>
            <a:off x="11210544" y="6510528"/>
            <a:ext cx="365760" cy="219456"/>
          </a:xfrm>
          <a:prstGeom prst="rect">
            <a:avLst/>
          </a:prstGeom>
          <a:noFill/>
        </p:spPr>
        <p:txBody>
          <a:bodyPr wrap="square" lIns="0" rIns="0" tIns="0" bIns="0">
            <a:spAutoFit/>
          </a:bodyPr>
          <a:lstStyle/>
          <a:p>
            <a:pPr algn="r">
              <a:spcAft>
                <a:spcPts val="800"/>
              </a:spcAft>
              <a:defRPr sz="1200" b="1">
                <a:solidFill>
                  <a:srgbClr val="67EBDD"/>
                </a:solidFill>
                <a:latin typeface="Arial"/>
              </a:defRPr>
            </a:pPr>
            <a:r>
              <a:t>08</a:t>
            </a:r>
          </a:p>
        </p:txBody>
      </p:sp>
      <p:sp>
        <p:nvSpPr>
          <p:cNvPr id="7" name="Rounded Rectangle 6"/>
          <p:cNvSpPr/>
          <p:nvPr/>
        </p:nvSpPr>
        <p:spPr>
          <a:xfrm>
            <a:off x="640080" y="594360"/>
            <a:ext cx="3803904" cy="310896"/>
          </a:xfrm>
          <a:prstGeom prst="roundRect">
            <a:avLst>
              <a:gd name="adj" fmla="val 35000"/>
            </a:avLst>
          </a:prstGeom>
          <a:solidFill>
            <a:srgbClr val="111E32"/>
          </a:solidFill>
          <a:ln w="10160">
            <a:solidFill>
              <a:srgbClr val="293A5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662940"/>
            <a:ext cx="3584448" cy="210312"/>
          </a:xfrm>
          <a:prstGeom prst="rect">
            <a:avLst/>
          </a:prstGeom>
          <a:noFill/>
        </p:spPr>
        <p:txBody>
          <a:bodyPr wrap="square" lIns="0" rIns="0" tIns="0" bIns="0">
            <a:spAutoFit/>
          </a:bodyPr>
          <a:lstStyle/>
          <a:p>
            <a:pPr algn="l">
              <a:spcAft>
                <a:spcPts val="800"/>
              </a:spcAft>
              <a:defRPr sz="1000" b="1">
                <a:solidFill>
                  <a:srgbClr val="67EBDD"/>
                </a:solidFill>
                <a:latin typeface="Arial"/>
              </a:defRPr>
            </a:pPr>
            <a:r>
              <a:t>AI CAN FAKE IT. CAN YOU UNCLONE IT?</a:t>
            </a:r>
          </a:p>
        </p:txBody>
      </p:sp>
      <p:pic>
        <p:nvPicPr>
          <p:cNvPr id="9" name="Picture 8" descr="shield.png"/>
          <p:cNvPicPr>
            <a:picLocks noChangeAspect="1"/>
          </p:cNvPicPr>
          <p:nvPr/>
        </p:nvPicPr>
        <p:blipFill>
          <a:blip r:embed="rId3"/>
          <a:stretch>
            <a:fillRect/>
          </a:stretch>
        </p:blipFill>
        <p:spPr>
          <a:xfrm>
            <a:off x="694944" y="1389888"/>
            <a:ext cx="681644" cy="749808"/>
          </a:xfrm>
          <a:prstGeom prst="rect">
            <a:avLst/>
          </a:prstGeom>
        </p:spPr>
      </p:pic>
      <p:sp>
        <p:nvSpPr>
          <p:cNvPr id="10" name="TextBox 9"/>
          <p:cNvSpPr txBox="1"/>
          <p:nvPr/>
        </p:nvSpPr>
        <p:spPr>
          <a:xfrm>
            <a:off x="1581912" y="1545336"/>
            <a:ext cx="7315200" cy="731520"/>
          </a:xfrm>
          <a:prstGeom prst="rect">
            <a:avLst/>
          </a:prstGeom>
          <a:noFill/>
        </p:spPr>
        <p:txBody>
          <a:bodyPr wrap="square" lIns="0" rIns="0" tIns="0" bIns="0">
            <a:spAutoFit/>
          </a:bodyPr>
          <a:lstStyle/>
          <a:p>
            <a:pPr algn="l">
              <a:spcAft>
                <a:spcPts val="800"/>
              </a:spcAft>
              <a:defRPr sz="4000" b="1">
                <a:solidFill>
                  <a:srgbClr val="F2F6FF"/>
                </a:solidFill>
                <a:latin typeface="Arial"/>
              </a:defRPr>
            </a:pPr>
            <a:r>
              <a:t>EchoGuard</a:t>
            </a:r>
          </a:p>
        </p:txBody>
      </p:sp>
      <p:sp>
        <p:nvSpPr>
          <p:cNvPr id="11" name="TextBox 10"/>
          <p:cNvSpPr txBox="1"/>
          <p:nvPr/>
        </p:nvSpPr>
        <p:spPr>
          <a:xfrm>
            <a:off x="676656" y="2560320"/>
            <a:ext cx="10058400" cy="1463040"/>
          </a:xfrm>
          <a:prstGeom prst="rect">
            <a:avLst/>
          </a:prstGeom>
          <a:noFill/>
        </p:spPr>
        <p:txBody>
          <a:bodyPr wrap="square" lIns="0" rIns="0" tIns="0" bIns="0">
            <a:spAutoFit/>
          </a:bodyPr>
          <a:lstStyle/>
          <a:p>
            <a:pPr algn="l">
              <a:spcAft>
                <a:spcPts val="800"/>
              </a:spcAft>
              <a:defRPr sz="4400" b="1">
                <a:solidFill>
                  <a:srgbClr val="67EBDD"/>
                </a:solidFill>
                <a:latin typeface="Arial"/>
              </a:defRPr>
            </a:pPr>
            <a:r>
              <a:t>Hear the voice.</a:t>
            </a:r>
          </a:p>
          <a:p>
            <a:pPr algn="l">
              <a:spcAft>
                <a:spcPts val="800"/>
              </a:spcAft>
              <a:defRPr sz="4400" b="1">
                <a:solidFill>
                  <a:srgbClr val="67EBDD"/>
                </a:solidFill>
                <a:latin typeface="Arial"/>
              </a:defRPr>
            </a:pPr>
            <a:r>
              <a:t>Uncover the risk.</a:t>
            </a:r>
          </a:p>
        </p:txBody>
      </p:sp>
      <p:cxnSp>
        <p:nvCxnSpPr>
          <p:cNvPr id="12" name="Connector 11"/>
          <p:cNvCxnSpPr/>
          <p:nvPr/>
        </p:nvCxnSpPr>
        <p:spPr>
          <a:xfrm>
            <a:off x="694944" y="4590288"/>
            <a:ext cx="3200400" cy="0"/>
          </a:xfrm>
          <a:prstGeom prst="line">
            <a:avLst/>
          </a:prstGeom>
          <a:ln w="12700">
            <a:solidFill>
              <a:srgbClr val="293A53"/>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94944" y="4828032"/>
            <a:ext cx="3246120" cy="301752"/>
          </a:xfrm>
          <a:prstGeom prst="rect">
            <a:avLst/>
          </a:prstGeom>
          <a:noFill/>
        </p:spPr>
        <p:txBody>
          <a:bodyPr wrap="square" lIns="0" rIns="0" tIns="0" bIns="0">
            <a:spAutoFit/>
          </a:bodyPr>
          <a:lstStyle/>
          <a:p>
            <a:pPr algn="l">
              <a:spcAft>
                <a:spcPts val="800"/>
              </a:spcAft>
              <a:defRPr sz="1600" b="1">
                <a:solidFill>
                  <a:srgbClr val="B9A6FF"/>
                </a:solidFill>
                <a:latin typeface="Arial"/>
              </a:defRPr>
            </a:pPr>
            <a:r>
              <a:t>PAUSE</a:t>
            </a:r>
          </a:p>
        </p:txBody>
      </p:sp>
      <p:sp>
        <p:nvSpPr>
          <p:cNvPr id="14" name="TextBox 13"/>
          <p:cNvSpPr txBox="1"/>
          <p:nvPr/>
        </p:nvSpPr>
        <p:spPr>
          <a:xfrm>
            <a:off x="694944" y="5349240"/>
            <a:ext cx="3310128" cy="475488"/>
          </a:xfrm>
          <a:prstGeom prst="rect">
            <a:avLst/>
          </a:prstGeom>
          <a:noFill/>
        </p:spPr>
        <p:txBody>
          <a:bodyPr wrap="square" lIns="0" rIns="0" tIns="0" bIns="0">
            <a:spAutoFit/>
          </a:bodyPr>
          <a:lstStyle/>
          <a:p>
            <a:pPr algn="l">
              <a:spcAft>
                <a:spcPts val="800"/>
              </a:spcAft>
              <a:defRPr sz="1900" b="0">
                <a:solidFill>
                  <a:srgbClr val="F2F6FF"/>
                </a:solidFill>
                <a:latin typeface="Arial"/>
              </a:defRPr>
            </a:pPr>
            <a:r>
              <a:t>Resist the urgency.</a:t>
            </a:r>
          </a:p>
        </p:txBody>
      </p:sp>
      <p:cxnSp>
        <p:nvCxnSpPr>
          <p:cNvPr id="15" name="Connector 14"/>
          <p:cNvCxnSpPr/>
          <p:nvPr/>
        </p:nvCxnSpPr>
        <p:spPr>
          <a:xfrm>
            <a:off x="4425696" y="4590288"/>
            <a:ext cx="3200400" cy="0"/>
          </a:xfrm>
          <a:prstGeom prst="line">
            <a:avLst/>
          </a:prstGeom>
          <a:ln w="12700">
            <a:solidFill>
              <a:srgbClr val="293A5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425696" y="4828032"/>
            <a:ext cx="3246120" cy="301752"/>
          </a:xfrm>
          <a:prstGeom prst="rect">
            <a:avLst/>
          </a:prstGeom>
          <a:noFill/>
        </p:spPr>
        <p:txBody>
          <a:bodyPr wrap="square" lIns="0" rIns="0" tIns="0" bIns="0">
            <a:spAutoFit/>
          </a:bodyPr>
          <a:lstStyle/>
          <a:p>
            <a:pPr algn="l">
              <a:spcAft>
                <a:spcPts val="800"/>
              </a:spcAft>
              <a:defRPr sz="1600" b="1">
                <a:solidFill>
                  <a:srgbClr val="B9A6FF"/>
                </a:solidFill>
                <a:latin typeface="Arial"/>
              </a:defRPr>
            </a:pPr>
            <a:r>
              <a:t>EXAMINE</a:t>
            </a:r>
          </a:p>
        </p:txBody>
      </p:sp>
      <p:sp>
        <p:nvSpPr>
          <p:cNvPr id="17" name="TextBox 16"/>
          <p:cNvSpPr txBox="1"/>
          <p:nvPr/>
        </p:nvSpPr>
        <p:spPr>
          <a:xfrm>
            <a:off x="4425696" y="5349240"/>
            <a:ext cx="3310128" cy="475488"/>
          </a:xfrm>
          <a:prstGeom prst="rect">
            <a:avLst/>
          </a:prstGeom>
          <a:noFill/>
        </p:spPr>
        <p:txBody>
          <a:bodyPr wrap="square" lIns="0" rIns="0" tIns="0" bIns="0">
            <a:spAutoFit/>
          </a:bodyPr>
          <a:lstStyle/>
          <a:p>
            <a:pPr algn="l">
              <a:spcAft>
                <a:spcPts val="800"/>
              </a:spcAft>
              <a:defRPr sz="1900" b="0">
                <a:solidFill>
                  <a:srgbClr val="F2F6FF"/>
                </a:solidFill>
                <a:latin typeface="Arial"/>
              </a:defRPr>
            </a:pPr>
            <a:r>
              <a:t>Read the evidence.</a:t>
            </a:r>
          </a:p>
        </p:txBody>
      </p:sp>
      <p:cxnSp>
        <p:nvCxnSpPr>
          <p:cNvPr id="18" name="Connector 17"/>
          <p:cNvCxnSpPr/>
          <p:nvPr/>
        </p:nvCxnSpPr>
        <p:spPr>
          <a:xfrm>
            <a:off x="8156448" y="4590288"/>
            <a:ext cx="3200400" cy="0"/>
          </a:xfrm>
          <a:prstGeom prst="line">
            <a:avLst/>
          </a:prstGeom>
          <a:ln w="12700">
            <a:solidFill>
              <a:srgbClr val="293A53"/>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156448" y="4828032"/>
            <a:ext cx="3246120" cy="301752"/>
          </a:xfrm>
          <a:prstGeom prst="rect">
            <a:avLst/>
          </a:prstGeom>
          <a:noFill/>
        </p:spPr>
        <p:txBody>
          <a:bodyPr wrap="square" lIns="0" rIns="0" tIns="0" bIns="0">
            <a:spAutoFit/>
          </a:bodyPr>
          <a:lstStyle/>
          <a:p>
            <a:pPr algn="l">
              <a:spcAft>
                <a:spcPts val="800"/>
              </a:spcAft>
              <a:defRPr sz="1600" b="1">
                <a:solidFill>
                  <a:srgbClr val="B9A6FF"/>
                </a:solidFill>
                <a:latin typeface="Arial"/>
              </a:defRPr>
            </a:pPr>
            <a:r>
              <a:t>VERIFY</a:t>
            </a:r>
          </a:p>
        </p:txBody>
      </p:sp>
      <p:sp>
        <p:nvSpPr>
          <p:cNvPr id="20" name="TextBox 19"/>
          <p:cNvSpPr txBox="1"/>
          <p:nvPr/>
        </p:nvSpPr>
        <p:spPr>
          <a:xfrm>
            <a:off x="8156448" y="5349240"/>
            <a:ext cx="3310128" cy="475488"/>
          </a:xfrm>
          <a:prstGeom prst="rect">
            <a:avLst/>
          </a:prstGeom>
          <a:noFill/>
        </p:spPr>
        <p:txBody>
          <a:bodyPr wrap="square" lIns="0" rIns="0" tIns="0" bIns="0">
            <a:spAutoFit/>
          </a:bodyPr>
          <a:lstStyle/>
          <a:p>
            <a:pPr algn="l">
              <a:spcAft>
                <a:spcPts val="800"/>
              </a:spcAft>
              <a:defRPr sz="1900" b="0">
                <a:solidFill>
                  <a:srgbClr val="F2F6FF"/>
                </a:solidFill>
                <a:latin typeface="Arial"/>
              </a:defRPr>
            </a:pPr>
            <a:r>
              <a:t>Use an independent channel.</a:t>
            </a:r>
          </a:p>
        </p:txBody>
      </p:sp>
      <p:sp>
        <p:nvSpPr>
          <p:cNvPr id="21" name="TextBox 20"/>
          <p:cNvSpPr txBox="1"/>
          <p:nvPr/>
        </p:nvSpPr>
        <p:spPr>
          <a:xfrm>
            <a:off x="713232" y="6016752"/>
            <a:ext cx="10881360" cy="246888"/>
          </a:xfrm>
          <a:prstGeom prst="rect">
            <a:avLst/>
          </a:prstGeom>
          <a:noFill/>
        </p:spPr>
        <p:txBody>
          <a:bodyPr wrap="square" lIns="0" rIns="0" tIns="0" bIns="0">
            <a:spAutoFit/>
          </a:bodyPr>
          <a:lstStyle/>
          <a:p>
            <a:pPr algn="l">
              <a:spcAft>
                <a:spcPts val="800"/>
              </a:spcAft>
              <a:defRPr sz="1200" b="0">
                <a:solidFill>
                  <a:srgbClr val="A9B8CE"/>
                </a:solidFill>
                <a:latin typeface="Arial"/>
              </a:defRPr>
            </a:pPr>
            <a:r>
              <a:t>Next: configure live services, verify real requests, and pilot responsibly.</a:t>
            </a:r>
          </a:p>
        </p:txBody>
      </p:sp>
    </p:spTree>
  </p:cSld>
  <p:clrMapOvr>
    <a:masterClrMapping/>
  </p:clrMapOvr>
  <p:transition spd="med"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EchoGuard — Hear the voice. Uncover the risk.</dc:title>
  <dc:subject>UNCLONE AI | Four-minute product presentation</dc:subject>
  <dc:creator>EchoGuard</dc:creator>
  <cp:keywords>EchoGuard, UNCLONE AI, voice, scam analysis, community reports</cp:keywords>
  <dc:description>Eight-slide pitch with a 240-second speaking plan, embedded notes, and manual-advance fade transitions.</dc:description>
  <cp:lastModifiedBy>Steve Canny</cp:lastModifiedBy>
  <cp:revision>1</cp:revision>
  <dcterms:created xsi:type="dcterms:W3CDTF">2013-01-27T09:14:16Z</dcterms:created>
  <dcterms:modified xsi:type="dcterms:W3CDTF">2013-01-27T09:15:58Z</dcterms:modified>
  <cp:category/>
</cp:coreProperties>
</file>